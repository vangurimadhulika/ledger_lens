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Lst>
  <p:sldSz cx="18288000" cy="10287000"/>
  <p:notesSz cx="6858000" cy="9144000"/>
  <p:embeddedFontLst>
    <p:embeddedFont>
      <p:font typeface="Nirand Bold" charset="1" panose="00000000000000000000"/>
      <p:regular r:id="rId20"/>
    </p:embeddedFont>
    <p:embeddedFont>
      <p:font typeface="Nunito" charset="1" panose="00000000000000000000"/>
      <p:regular r:id="rId21"/>
    </p:embeddedFont>
    <p:embeddedFont>
      <p:font typeface="Nunito Bold" charset="1" panose="00000000000000000000"/>
      <p:regular r:id="rId22"/>
    </p:embeddedFont>
    <p:embeddedFont>
      <p:font typeface="Arimo" charset="1" panose="020B0604020202020204"/>
      <p:regular r:id="rId2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22" Target="fonts/font22.fntdata" Type="http://schemas.openxmlformats.org/officeDocument/2006/relationships/font"/><Relationship Id="rId23" Target="fonts/font23.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 Id="rId3" Target="../media/image9.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 Id="rId3" Target="../media/image12.sv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p:cSld>
    <p:bg>
      <p:bgPr>
        <a:solidFill>
          <a:srgbClr val="C0D1DF"/>
        </a:solidFill>
      </p:bgPr>
    </p:bg>
    <p:spTree>
      <p:nvGrpSpPr>
        <p:cNvPr id="1" name=""/>
        <p:cNvGrpSpPr/>
        <p:nvPr/>
      </p:nvGrpSpPr>
      <p:grpSpPr>
        <a:xfrm>
          <a:off x="0" y="0"/>
          <a:ext cx="0" cy="0"/>
          <a:chOff x="0" y="0"/>
          <a:chExt cx="0" cy="0"/>
        </a:xfrm>
      </p:grpSpPr>
      <p:grpSp>
        <p:nvGrpSpPr>
          <p:cNvPr name="Group 2" id="2"/>
          <p:cNvGrpSpPr/>
          <p:nvPr/>
        </p:nvGrpSpPr>
        <p:grpSpPr>
          <a:xfrm rot="0">
            <a:off x="-2473454" y="-2406016"/>
            <a:ext cx="16040420" cy="16040420"/>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14359304" y="488689"/>
            <a:ext cx="2513081" cy="2513081"/>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27484"/>
            </a:solidFill>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AutoShape 8" id="8"/>
          <p:cNvSpPr/>
          <p:nvPr/>
        </p:nvSpPr>
        <p:spPr>
          <a:xfrm>
            <a:off x="-1700579" y="1028700"/>
            <a:ext cx="7733905" cy="0"/>
          </a:xfrm>
          <a:prstGeom prst="line">
            <a:avLst/>
          </a:prstGeom>
          <a:ln cap="flat" w="38100">
            <a:solidFill>
              <a:srgbClr val="2E3A44"/>
            </a:solidFill>
            <a:prstDash val="solid"/>
            <a:headEnd type="none" len="sm" w="sm"/>
            <a:tailEnd type="oval" len="lg" w="lg"/>
          </a:ln>
        </p:spPr>
      </p:sp>
      <p:sp>
        <p:nvSpPr>
          <p:cNvPr name="AutoShape 9" id="9"/>
          <p:cNvSpPr/>
          <p:nvPr/>
        </p:nvSpPr>
        <p:spPr>
          <a:xfrm>
            <a:off x="11230885" y="9258300"/>
            <a:ext cx="7770392" cy="0"/>
          </a:xfrm>
          <a:prstGeom prst="line">
            <a:avLst/>
          </a:prstGeom>
          <a:ln cap="flat" w="38100">
            <a:solidFill>
              <a:srgbClr val="2E3A44"/>
            </a:solidFill>
            <a:prstDash val="solid"/>
            <a:headEnd type="oval" len="lg" w="lg"/>
            <a:tailEnd type="none" len="sm" w="sm"/>
          </a:ln>
        </p:spPr>
      </p:sp>
      <p:grpSp>
        <p:nvGrpSpPr>
          <p:cNvPr name="Group 10" id="10"/>
          <p:cNvGrpSpPr/>
          <p:nvPr/>
        </p:nvGrpSpPr>
        <p:grpSpPr>
          <a:xfrm rot="0">
            <a:off x="1487521" y="7672012"/>
            <a:ext cx="1586288" cy="1586288"/>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27484"/>
            </a:solidFill>
          </p:spPr>
        </p:sp>
        <p:sp>
          <p:nvSpPr>
            <p:cNvPr name="TextBox 12" id="12"/>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TextBox 13" id="13"/>
          <p:cNvSpPr txBox="true"/>
          <p:nvPr/>
        </p:nvSpPr>
        <p:spPr>
          <a:xfrm rot="0">
            <a:off x="1284149" y="1679219"/>
            <a:ext cx="10946535" cy="3034366"/>
          </a:xfrm>
          <a:prstGeom prst="rect">
            <a:avLst/>
          </a:prstGeom>
        </p:spPr>
        <p:txBody>
          <a:bodyPr anchor="t" rtlCol="false" tIns="0" lIns="0" bIns="0" rIns="0">
            <a:spAutoFit/>
          </a:bodyPr>
          <a:lstStyle/>
          <a:p>
            <a:pPr algn="l">
              <a:lnSpc>
                <a:spcPts val="11251"/>
              </a:lnSpc>
            </a:pPr>
            <a:r>
              <a:rPr lang="en-US" sz="8036" b="true">
                <a:solidFill>
                  <a:srgbClr val="2E3A44"/>
                </a:solidFill>
                <a:latin typeface="Nirand Bold"/>
                <a:ea typeface="Nirand Bold"/>
                <a:cs typeface="Nirand Bold"/>
                <a:sym typeface="Nirand Bold"/>
              </a:rPr>
              <a:t>Receipt &amp; INVOICE DIGITIZER</a:t>
            </a:r>
          </a:p>
        </p:txBody>
      </p:sp>
      <p:sp>
        <p:nvSpPr>
          <p:cNvPr name="TextBox 14" id="14"/>
          <p:cNvSpPr txBox="true"/>
          <p:nvPr/>
        </p:nvSpPr>
        <p:spPr>
          <a:xfrm rot="0">
            <a:off x="1284149" y="5123022"/>
            <a:ext cx="9946736" cy="1581150"/>
          </a:xfrm>
          <a:prstGeom prst="rect">
            <a:avLst/>
          </a:prstGeom>
        </p:spPr>
        <p:txBody>
          <a:bodyPr anchor="t" rtlCol="false" tIns="0" lIns="0" bIns="0" rIns="0">
            <a:spAutoFit/>
          </a:bodyPr>
          <a:lstStyle/>
          <a:p>
            <a:pPr algn="l">
              <a:lnSpc>
                <a:spcPts val="6300"/>
              </a:lnSpc>
            </a:pPr>
            <a:r>
              <a:rPr lang="en-US" sz="4500">
                <a:solidFill>
                  <a:srgbClr val="2E3A44"/>
                </a:solidFill>
                <a:latin typeface="Nunito"/>
                <a:ea typeface="Nunito"/>
                <a:cs typeface="Nunito"/>
                <a:sym typeface="Nunito"/>
              </a:rPr>
              <a:t>A Beginner's Guide to Building Intelligent Expense Managers </a:t>
            </a:r>
          </a:p>
        </p:txBody>
      </p:sp>
    </p:spTree>
  </p:cSld>
  <p:clrMapOvr>
    <a:masterClrMapping/>
  </p:clrMapOvr>
</p:sld>
</file>

<file path=ppt/slides/slide2.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4740084" y="-5661115"/>
            <a:ext cx="14522629" cy="14522629"/>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0D1DF"/>
            </a:solidFill>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0" y="3384836"/>
            <a:ext cx="3517329" cy="3517329"/>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27484"/>
            </a:solidFill>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AutoShape 8" id="8"/>
          <p:cNvSpPr/>
          <p:nvPr/>
        </p:nvSpPr>
        <p:spPr>
          <a:xfrm>
            <a:off x="1028700" y="9258300"/>
            <a:ext cx="16185445" cy="0"/>
          </a:xfrm>
          <a:prstGeom prst="line">
            <a:avLst/>
          </a:prstGeom>
          <a:ln cap="flat" w="38100">
            <a:solidFill>
              <a:srgbClr val="2E3A44"/>
            </a:solidFill>
            <a:prstDash val="solid"/>
            <a:headEnd type="oval" len="lg" w="lg"/>
            <a:tailEnd type="oval" len="lg" w="lg"/>
          </a:ln>
        </p:spPr>
      </p:sp>
      <p:grpSp>
        <p:nvGrpSpPr>
          <p:cNvPr name="Group 9" id="9"/>
          <p:cNvGrpSpPr/>
          <p:nvPr/>
        </p:nvGrpSpPr>
        <p:grpSpPr>
          <a:xfrm rot="0">
            <a:off x="3153796" y="6668639"/>
            <a:ext cx="1586288" cy="1586288"/>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27484"/>
            </a:solidFill>
          </p:spPr>
        </p:sp>
        <p:sp>
          <p:nvSpPr>
            <p:cNvPr name="TextBox 11" id="11"/>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TextBox 12" id="12"/>
          <p:cNvSpPr txBox="true"/>
          <p:nvPr/>
        </p:nvSpPr>
        <p:spPr>
          <a:xfrm rot="0">
            <a:off x="6332895" y="865461"/>
            <a:ext cx="11337009" cy="1495425"/>
          </a:xfrm>
          <a:prstGeom prst="rect">
            <a:avLst/>
          </a:prstGeom>
        </p:spPr>
        <p:txBody>
          <a:bodyPr anchor="t" rtlCol="false" tIns="0" lIns="0" bIns="0" rIns="0">
            <a:spAutoFit/>
          </a:bodyPr>
          <a:lstStyle/>
          <a:p>
            <a:pPr algn="ctr">
              <a:lnSpc>
                <a:spcPts val="10500"/>
              </a:lnSpc>
            </a:pPr>
            <a:r>
              <a:rPr lang="en-US" b="true" sz="7500">
                <a:solidFill>
                  <a:srgbClr val="2E3A44"/>
                </a:solidFill>
                <a:latin typeface="Nirand Bold"/>
                <a:ea typeface="Nirand Bold"/>
                <a:cs typeface="Nirand Bold"/>
                <a:sym typeface="Nirand Bold"/>
              </a:rPr>
              <a:t>PROBLEM STATEMENT</a:t>
            </a:r>
          </a:p>
        </p:txBody>
      </p:sp>
      <p:sp>
        <p:nvSpPr>
          <p:cNvPr name="TextBox 13" id="13"/>
          <p:cNvSpPr txBox="true"/>
          <p:nvPr/>
        </p:nvSpPr>
        <p:spPr>
          <a:xfrm rot="0">
            <a:off x="6695248" y="3056035"/>
            <a:ext cx="10612301" cy="3453130"/>
          </a:xfrm>
          <a:prstGeom prst="rect">
            <a:avLst/>
          </a:prstGeom>
        </p:spPr>
        <p:txBody>
          <a:bodyPr anchor="t" rtlCol="false" tIns="0" lIns="0" bIns="0" rIns="0">
            <a:spAutoFit/>
          </a:bodyPr>
          <a:lstStyle/>
          <a:p>
            <a:pPr algn="ctr">
              <a:lnSpc>
                <a:spcPts val="3919"/>
              </a:lnSpc>
            </a:pPr>
            <a:r>
              <a:rPr lang="en-US" sz="2799">
                <a:solidFill>
                  <a:srgbClr val="2E3A44"/>
                </a:solidFill>
                <a:latin typeface="Nunito"/>
                <a:ea typeface="Nunito"/>
                <a:cs typeface="Nunito"/>
                <a:sym typeface="Nunito"/>
              </a:rPr>
              <a:t>Managing receipts manually is time-consuming and error-prone.</a:t>
            </a:r>
          </a:p>
          <a:p>
            <a:pPr algn="ctr">
              <a:lnSpc>
                <a:spcPts val="3919"/>
              </a:lnSpc>
            </a:pPr>
            <a:r>
              <a:rPr lang="en-US" sz="2799">
                <a:solidFill>
                  <a:srgbClr val="2E3A44"/>
                </a:solidFill>
                <a:latin typeface="Nunito"/>
                <a:ea typeface="Nunito"/>
                <a:cs typeface="Nunito"/>
                <a:sym typeface="Nunito"/>
              </a:rPr>
              <a:t> Users often lose bills or fail to track expenses accurately.</a:t>
            </a:r>
          </a:p>
          <a:p>
            <a:pPr algn="ctr">
              <a:lnSpc>
                <a:spcPts val="3919"/>
              </a:lnSpc>
            </a:pPr>
            <a:r>
              <a:rPr lang="en-US" sz="2799">
                <a:solidFill>
                  <a:srgbClr val="2E3A44"/>
                </a:solidFill>
                <a:latin typeface="Nunito"/>
                <a:ea typeface="Nunito"/>
                <a:cs typeface="Nunito"/>
                <a:sym typeface="Nunito"/>
              </a:rPr>
              <a:t>There is a need for an automated system that can:</a:t>
            </a:r>
          </a:p>
          <a:p>
            <a:pPr algn="ctr">
              <a:lnSpc>
                <a:spcPts val="3919"/>
              </a:lnSpc>
            </a:pPr>
            <a:r>
              <a:rPr lang="en-US" sz="2799">
                <a:solidFill>
                  <a:srgbClr val="2E3A44"/>
                </a:solidFill>
                <a:latin typeface="Nunito"/>
                <a:ea typeface="Nunito"/>
                <a:cs typeface="Nunito"/>
                <a:sym typeface="Nunito"/>
              </a:rPr>
              <a:t>Digitize receipts</a:t>
            </a:r>
          </a:p>
          <a:p>
            <a:pPr algn="ctr">
              <a:lnSpc>
                <a:spcPts val="3919"/>
              </a:lnSpc>
            </a:pPr>
            <a:r>
              <a:rPr lang="en-US" sz="2799">
                <a:solidFill>
                  <a:srgbClr val="2E3A44"/>
                </a:solidFill>
                <a:latin typeface="Nunito"/>
                <a:ea typeface="Nunito"/>
                <a:cs typeface="Nunito"/>
                <a:sym typeface="Nunito"/>
              </a:rPr>
              <a:t>    Extract important information</a:t>
            </a:r>
          </a:p>
          <a:p>
            <a:pPr algn="ctr">
              <a:lnSpc>
                <a:spcPts val="3919"/>
              </a:lnSpc>
            </a:pPr>
            <a:r>
              <a:rPr lang="en-US" sz="2799">
                <a:solidFill>
                  <a:srgbClr val="2E3A44"/>
                </a:solidFill>
                <a:latin typeface="Nunito"/>
                <a:ea typeface="Nunito"/>
                <a:cs typeface="Nunito"/>
                <a:sym typeface="Nunito"/>
              </a:rPr>
              <a:t>   Analyze spending patterns</a:t>
            </a:r>
          </a:p>
          <a:p>
            <a:pPr algn="ctr">
              <a:lnSpc>
                <a:spcPts val="3919"/>
              </a:lnSpc>
            </a:pPr>
          </a:p>
        </p:txBody>
      </p:sp>
    </p:spTree>
  </p:cSld>
  <p:clrMapOvr>
    <a:masterClrMapping/>
  </p:clrMapOvr>
</p:sld>
</file>

<file path=ppt/slides/slide3.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15245194" y="-1345629"/>
            <a:ext cx="3517329" cy="3517329"/>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27484"/>
            </a:solidFill>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5129662" y="7824967"/>
            <a:ext cx="8028675" cy="8028675"/>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0D1DF"/>
            </a:solidFill>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AutoShape 8" id="8"/>
          <p:cNvSpPr/>
          <p:nvPr/>
        </p:nvSpPr>
        <p:spPr>
          <a:xfrm>
            <a:off x="1028700" y="9258300"/>
            <a:ext cx="16185445" cy="0"/>
          </a:xfrm>
          <a:prstGeom prst="line">
            <a:avLst/>
          </a:prstGeom>
          <a:ln cap="flat" w="38100">
            <a:solidFill>
              <a:srgbClr val="2E3A44"/>
            </a:solidFill>
            <a:prstDash val="solid"/>
            <a:headEnd type="oval" len="lg" w="lg"/>
            <a:tailEnd type="oval" len="lg" w="lg"/>
          </a:ln>
        </p:spPr>
      </p:sp>
      <p:grpSp>
        <p:nvGrpSpPr>
          <p:cNvPr name="Group 9" id="9"/>
          <p:cNvGrpSpPr/>
          <p:nvPr/>
        </p:nvGrpSpPr>
        <p:grpSpPr>
          <a:xfrm rot="0">
            <a:off x="13276242" y="-767852"/>
            <a:ext cx="1586288" cy="1586288"/>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27484"/>
            </a:solidFill>
          </p:spPr>
        </p:sp>
        <p:sp>
          <p:nvSpPr>
            <p:cNvPr name="TextBox 11" id="11"/>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12" id="12"/>
          <p:cNvGrpSpPr/>
          <p:nvPr/>
        </p:nvGrpSpPr>
        <p:grpSpPr>
          <a:xfrm rot="0">
            <a:off x="2204697" y="3119120"/>
            <a:ext cx="580876" cy="580876"/>
            <a:chOff x="0" y="0"/>
            <a:chExt cx="812800" cy="812800"/>
          </a:xfrm>
        </p:grpSpPr>
        <p:sp>
          <p:nvSpPr>
            <p:cNvPr name="Freeform 13" id="1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27484"/>
            </a:solidFill>
          </p:spPr>
        </p:sp>
        <p:sp>
          <p:nvSpPr>
            <p:cNvPr name="TextBox 14" id="14"/>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TextBox 15" id="15"/>
          <p:cNvSpPr txBox="true"/>
          <p:nvPr/>
        </p:nvSpPr>
        <p:spPr>
          <a:xfrm rot="0">
            <a:off x="4207998" y="1190072"/>
            <a:ext cx="9872004" cy="1495425"/>
          </a:xfrm>
          <a:prstGeom prst="rect">
            <a:avLst/>
          </a:prstGeom>
        </p:spPr>
        <p:txBody>
          <a:bodyPr anchor="t" rtlCol="false" tIns="0" lIns="0" bIns="0" rIns="0">
            <a:spAutoFit/>
          </a:bodyPr>
          <a:lstStyle/>
          <a:p>
            <a:pPr algn="ctr">
              <a:lnSpc>
                <a:spcPts val="10500"/>
              </a:lnSpc>
            </a:pPr>
            <a:r>
              <a:rPr lang="en-US" b="true" sz="7500">
                <a:solidFill>
                  <a:srgbClr val="2E3A44"/>
                </a:solidFill>
                <a:latin typeface="Nirand Bold"/>
                <a:ea typeface="Nirand Bold"/>
                <a:cs typeface="Nirand Bold"/>
                <a:sym typeface="Nirand Bold"/>
              </a:rPr>
              <a:t>PROJECT OBJECTIVE</a:t>
            </a:r>
          </a:p>
        </p:txBody>
      </p:sp>
      <p:sp>
        <p:nvSpPr>
          <p:cNvPr name="TextBox 16" id="16"/>
          <p:cNvSpPr txBox="true"/>
          <p:nvPr/>
        </p:nvSpPr>
        <p:spPr>
          <a:xfrm rot="0">
            <a:off x="4866616" y="3342883"/>
            <a:ext cx="8933140" cy="4180840"/>
          </a:xfrm>
          <a:prstGeom prst="rect">
            <a:avLst/>
          </a:prstGeom>
        </p:spPr>
        <p:txBody>
          <a:bodyPr anchor="t" rtlCol="false" tIns="0" lIns="0" bIns="0" rIns="0">
            <a:spAutoFit/>
          </a:bodyPr>
          <a:lstStyle/>
          <a:p>
            <a:pPr algn="l">
              <a:lnSpc>
                <a:spcPts val="4759"/>
              </a:lnSpc>
            </a:pPr>
            <a:r>
              <a:rPr lang="en-US" sz="3399">
                <a:solidFill>
                  <a:srgbClr val="2E3A44"/>
                </a:solidFill>
                <a:latin typeface="Nunito"/>
                <a:ea typeface="Nunito"/>
                <a:cs typeface="Nunito"/>
                <a:sym typeface="Nunito"/>
              </a:rPr>
              <a:t>The objective of this project is to:</a:t>
            </a:r>
          </a:p>
          <a:p>
            <a:pPr algn="l" marL="734056" indent="-367028" lvl="1">
              <a:lnSpc>
                <a:spcPts val="4759"/>
              </a:lnSpc>
              <a:buFont typeface="Arial"/>
              <a:buChar char="•"/>
            </a:pPr>
            <a:r>
              <a:rPr lang="en-US" sz="3399">
                <a:solidFill>
                  <a:srgbClr val="2E3A44"/>
                </a:solidFill>
                <a:latin typeface="Nunito"/>
                <a:ea typeface="Nunito"/>
                <a:cs typeface="Nunito"/>
                <a:sym typeface="Nunito"/>
              </a:rPr>
              <a:t>Digitize receipts and invoices using AI</a:t>
            </a:r>
          </a:p>
          <a:p>
            <a:pPr algn="l" marL="734056" indent="-367028" lvl="1">
              <a:lnSpc>
                <a:spcPts val="4759"/>
              </a:lnSpc>
              <a:buFont typeface="Arial"/>
              <a:buChar char="•"/>
            </a:pPr>
            <a:r>
              <a:rPr lang="en-US" sz="3399">
                <a:solidFill>
                  <a:srgbClr val="2E3A44"/>
                </a:solidFill>
                <a:latin typeface="Nunito"/>
                <a:ea typeface="Nunito"/>
                <a:cs typeface="Nunito"/>
                <a:sym typeface="Nunito"/>
              </a:rPr>
              <a:t>Extract structured expense data automatically</a:t>
            </a:r>
          </a:p>
          <a:p>
            <a:pPr algn="l" marL="734056" indent="-367028" lvl="1">
              <a:lnSpc>
                <a:spcPts val="4759"/>
              </a:lnSpc>
              <a:buFont typeface="Arial"/>
              <a:buChar char="•"/>
            </a:pPr>
            <a:r>
              <a:rPr lang="en-US" sz="3399">
                <a:solidFill>
                  <a:srgbClr val="2E3A44"/>
                </a:solidFill>
                <a:latin typeface="Nunito"/>
                <a:ea typeface="Nunito"/>
                <a:cs typeface="Nunito"/>
                <a:sym typeface="Nunito"/>
              </a:rPr>
              <a:t>Store expenses securely</a:t>
            </a:r>
          </a:p>
          <a:p>
            <a:pPr algn="l" marL="734056" indent="-367028" lvl="1">
              <a:lnSpc>
                <a:spcPts val="4759"/>
              </a:lnSpc>
              <a:buFont typeface="Arial"/>
              <a:buChar char="•"/>
            </a:pPr>
            <a:r>
              <a:rPr lang="en-US" sz="3399">
                <a:solidFill>
                  <a:srgbClr val="2E3A44"/>
                </a:solidFill>
                <a:latin typeface="Nunito"/>
                <a:ea typeface="Nunito"/>
                <a:cs typeface="Nunito"/>
                <a:sym typeface="Nunito"/>
              </a:rPr>
              <a:t>Provide clear spending analytics</a:t>
            </a:r>
          </a:p>
          <a:p>
            <a:pPr algn="l">
              <a:lnSpc>
                <a:spcPts val="4759"/>
              </a:lnSpc>
            </a:pPr>
          </a:p>
        </p:txBody>
      </p:sp>
    </p:spTree>
  </p:cSld>
  <p:clrMapOvr>
    <a:masterClrMapping/>
  </p:clrMapOvr>
</p:sld>
</file>

<file path=ppt/slides/slide4.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12417447" y="7372841"/>
            <a:ext cx="8028675" cy="8028675"/>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0D1DF"/>
            </a:solidFill>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AutoShape 5" id="5"/>
          <p:cNvSpPr/>
          <p:nvPr/>
        </p:nvSpPr>
        <p:spPr>
          <a:xfrm>
            <a:off x="1028700" y="9258300"/>
            <a:ext cx="16185445" cy="0"/>
          </a:xfrm>
          <a:prstGeom prst="line">
            <a:avLst/>
          </a:prstGeom>
          <a:ln cap="flat" w="38100">
            <a:solidFill>
              <a:srgbClr val="2E3A44"/>
            </a:solidFill>
            <a:prstDash val="solid"/>
            <a:headEnd type="oval" len="lg" w="lg"/>
            <a:tailEnd type="oval" len="lg" w="lg"/>
          </a:ln>
        </p:spPr>
      </p:sp>
      <p:grpSp>
        <p:nvGrpSpPr>
          <p:cNvPr name="Group 6" id="6"/>
          <p:cNvGrpSpPr/>
          <p:nvPr/>
        </p:nvGrpSpPr>
        <p:grpSpPr>
          <a:xfrm rot="0">
            <a:off x="322038" y="-1115182"/>
            <a:ext cx="2230365" cy="2230365"/>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27484"/>
            </a:solidFill>
          </p:spPr>
        </p:sp>
        <p:sp>
          <p:nvSpPr>
            <p:cNvPr name="TextBox 8" id="8"/>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TextBox 9" id="9"/>
          <p:cNvSpPr txBox="true"/>
          <p:nvPr/>
        </p:nvSpPr>
        <p:spPr>
          <a:xfrm rot="0">
            <a:off x="3517304" y="676275"/>
            <a:ext cx="11253392" cy="1495425"/>
          </a:xfrm>
          <a:prstGeom prst="rect">
            <a:avLst/>
          </a:prstGeom>
        </p:spPr>
        <p:txBody>
          <a:bodyPr anchor="t" rtlCol="false" tIns="0" lIns="0" bIns="0" rIns="0">
            <a:spAutoFit/>
          </a:bodyPr>
          <a:lstStyle/>
          <a:p>
            <a:pPr algn="ctr">
              <a:lnSpc>
                <a:spcPts val="10500"/>
              </a:lnSpc>
            </a:pPr>
            <a:r>
              <a:rPr lang="en-US" b="true" sz="7500">
                <a:solidFill>
                  <a:srgbClr val="2E3A44"/>
                </a:solidFill>
                <a:latin typeface="Nirand Bold"/>
                <a:ea typeface="Nirand Bold"/>
                <a:cs typeface="Nirand Bold"/>
                <a:sym typeface="Nirand Bold"/>
              </a:rPr>
              <a:t>SYSTEM OVERVIEW</a:t>
            </a:r>
          </a:p>
        </p:txBody>
      </p:sp>
      <p:grpSp>
        <p:nvGrpSpPr>
          <p:cNvPr name="Group 10" id="10"/>
          <p:cNvGrpSpPr/>
          <p:nvPr/>
        </p:nvGrpSpPr>
        <p:grpSpPr>
          <a:xfrm rot="0">
            <a:off x="1481583" y="2981592"/>
            <a:ext cx="3086100" cy="1034820"/>
            <a:chOff x="0" y="0"/>
            <a:chExt cx="812800" cy="272545"/>
          </a:xfrm>
        </p:grpSpPr>
        <p:sp>
          <p:nvSpPr>
            <p:cNvPr name="Freeform 11" id="11"/>
            <p:cNvSpPr/>
            <p:nvPr/>
          </p:nvSpPr>
          <p:spPr>
            <a:xfrm flipH="false" flipV="false" rot="0">
              <a:off x="0" y="0"/>
              <a:ext cx="812800" cy="272545"/>
            </a:xfrm>
            <a:custGeom>
              <a:avLst/>
              <a:gdLst/>
              <a:ahLst/>
              <a:cxnLst/>
              <a:rect r="r" b="b" t="t" l="l"/>
              <a:pathLst>
                <a:path h="272545" w="812800">
                  <a:moveTo>
                    <a:pt x="127941" y="0"/>
                  </a:moveTo>
                  <a:lnTo>
                    <a:pt x="684859" y="0"/>
                  </a:lnTo>
                  <a:cubicBezTo>
                    <a:pt x="718791" y="0"/>
                    <a:pt x="751333" y="13479"/>
                    <a:pt x="775327" y="37473"/>
                  </a:cubicBezTo>
                  <a:cubicBezTo>
                    <a:pt x="799321" y="61467"/>
                    <a:pt x="812800" y="94009"/>
                    <a:pt x="812800" y="127941"/>
                  </a:cubicBezTo>
                  <a:lnTo>
                    <a:pt x="812800" y="144604"/>
                  </a:lnTo>
                  <a:cubicBezTo>
                    <a:pt x="812800" y="178536"/>
                    <a:pt x="799321" y="211079"/>
                    <a:pt x="775327" y="235072"/>
                  </a:cubicBezTo>
                  <a:cubicBezTo>
                    <a:pt x="751333" y="259066"/>
                    <a:pt x="718791" y="272545"/>
                    <a:pt x="684859" y="272545"/>
                  </a:cubicBezTo>
                  <a:lnTo>
                    <a:pt x="127941" y="272545"/>
                  </a:lnTo>
                  <a:cubicBezTo>
                    <a:pt x="94009" y="272545"/>
                    <a:pt x="61467" y="259066"/>
                    <a:pt x="37473" y="235072"/>
                  </a:cubicBezTo>
                  <a:cubicBezTo>
                    <a:pt x="13479" y="211079"/>
                    <a:pt x="0" y="178536"/>
                    <a:pt x="0" y="144604"/>
                  </a:cubicBezTo>
                  <a:lnTo>
                    <a:pt x="0" y="127941"/>
                  </a:lnTo>
                  <a:cubicBezTo>
                    <a:pt x="0" y="94009"/>
                    <a:pt x="13479" y="61467"/>
                    <a:pt x="37473" y="37473"/>
                  </a:cubicBezTo>
                  <a:cubicBezTo>
                    <a:pt x="61467" y="13479"/>
                    <a:pt x="94009" y="0"/>
                    <a:pt x="127941" y="0"/>
                  </a:cubicBezTo>
                  <a:close/>
                </a:path>
              </a:pathLst>
            </a:custGeom>
            <a:solidFill>
              <a:srgbClr val="C0D1DF"/>
            </a:solidFill>
          </p:spPr>
        </p:sp>
        <p:sp>
          <p:nvSpPr>
            <p:cNvPr name="TextBox 12" id="12"/>
            <p:cNvSpPr txBox="true"/>
            <p:nvPr/>
          </p:nvSpPr>
          <p:spPr>
            <a:xfrm>
              <a:off x="0" y="-38100"/>
              <a:ext cx="812800" cy="310645"/>
            </a:xfrm>
            <a:prstGeom prst="rect">
              <a:avLst/>
            </a:prstGeom>
          </p:spPr>
          <p:txBody>
            <a:bodyPr anchor="ctr" rtlCol="false" tIns="50800" lIns="50800" bIns="50800" rIns="50800"/>
            <a:lstStyle/>
            <a:p>
              <a:pPr algn="ctr">
                <a:lnSpc>
                  <a:spcPts val="2659"/>
                </a:lnSpc>
              </a:pPr>
            </a:p>
          </p:txBody>
        </p:sp>
      </p:grpSp>
      <p:sp>
        <p:nvSpPr>
          <p:cNvPr name="TextBox 13" id="13"/>
          <p:cNvSpPr txBox="true"/>
          <p:nvPr/>
        </p:nvSpPr>
        <p:spPr>
          <a:xfrm rot="0">
            <a:off x="1281468" y="4190856"/>
            <a:ext cx="3486328" cy="3181985"/>
          </a:xfrm>
          <a:prstGeom prst="rect">
            <a:avLst/>
          </a:prstGeom>
        </p:spPr>
        <p:txBody>
          <a:bodyPr anchor="t" rtlCol="false" tIns="0" lIns="0" bIns="0" rIns="0">
            <a:spAutoFit/>
          </a:bodyPr>
          <a:lstStyle/>
          <a:p>
            <a:pPr algn="ctr">
              <a:lnSpc>
                <a:spcPts val="3640"/>
              </a:lnSpc>
            </a:pPr>
            <a:r>
              <a:rPr lang="en-US" sz="2600">
                <a:solidFill>
                  <a:srgbClr val="2E3A44"/>
                </a:solidFill>
                <a:latin typeface="Nunito"/>
                <a:ea typeface="Nunito"/>
                <a:cs typeface="Nunito"/>
                <a:sym typeface="Nunito"/>
              </a:rPr>
              <a:t>Built using Streamlit.</a:t>
            </a:r>
          </a:p>
          <a:p>
            <a:pPr algn="ctr">
              <a:lnSpc>
                <a:spcPts val="3640"/>
              </a:lnSpc>
            </a:pPr>
            <a:r>
              <a:rPr lang="en-US" sz="2600">
                <a:solidFill>
                  <a:srgbClr val="2E3A44"/>
                </a:solidFill>
                <a:latin typeface="Nunito"/>
                <a:ea typeface="Nunito"/>
                <a:cs typeface="Nunito"/>
                <a:sym typeface="Nunito"/>
              </a:rPr>
              <a:t>Provides an interactive web-based dashboard.</a:t>
            </a:r>
          </a:p>
          <a:p>
            <a:pPr algn="ctr">
              <a:lnSpc>
                <a:spcPts val="3640"/>
              </a:lnSpc>
            </a:pPr>
            <a:r>
              <a:rPr lang="en-US" sz="2600">
                <a:solidFill>
                  <a:srgbClr val="2E3A44"/>
                </a:solidFill>
                <a:latin typeface="Nunito"/>
                <a:ea typeface="Nunito"/>
                <a:cs typeface="Nunito"/>
                <a:sym typeface="Nunito"/>
              </a:rPr>
              <a:t>Allows users to upload receipts and navigate analytics easily</a:t>
            </a:r>
          </a:p>
          <a:p>
            <a:pPr algn="ctr">
              <a:lnSpc>
                <a:spcPts val="3640"/>
              </a:lnSpc>
            </a:pPr>
          </a:p>
        </p:txBody>
      </p:sp>
      <p:sp>
        <p:nvSpPr>
          <p:cNvPr name="TextBox 14" id="14"/>
          <p:cNvSpPr txBox="true"/>
          <p:nvPr/>
        </p:nvSpPr>
        <p:spPr>
          <a:xfrm rot="0">
            <a:off x="1789463" y="3130701"/>
            <a:ext cx="2470340" cy="669925"/>
          </a:xfrm>
          <a:prstGeom prst="rect">
            <a:avLst/>
          </a:prstGeom>
        </p:spPr>
        <p:txBody>
          <a:bodyPr anchor="t" rtlCol="false" tIns="0" lIns="0" bIns="0" rIns="0">
            <a:spAutoFit/>
          </a:bodyPr>
          <a:lstStyle/>
          <a:p>
            <a:pPr algn="ctr">
              <a:lnSpc>
                <a:spcPts val="5599"/>
              </a:lnSpc>
            </a:pPr>
            <a:r>
              <a:rPr lang="en-US" sz="3999" b="true">
                <a:solidFill>
                  <a:srgbClr val="2E3A44"/>
                </a:solidFill>
                <a:latin typeface="Nunito Bold"/>
                <a:ea typeface="Nunito Bold"/>
                <a:cs typeface="Nunito Bold"/>
                <a:sym typeface="Nunito Bold"/>
              </a:rPr>
              <a:t>Frontend</a:t>
            </a:r>
          </a:p>
        </p:txBody>
      </p:sp>
      <p:grpSp>
        <p:nvGrpSpPr>
          <p:cNvPr name="Group 15" id="15"/>
          <p:cNvGrpSpPr/>
          <p:nvPr/>
        </p:nvGrpSpPr>
        <p:grpSpPr>
          <a:xfrm rot="0">
            <a:off x="5561161" y="2981592"/>
            <a:ext cx="3086100" cy="1034820"/>
            <a:chOff x="0" y="0"/>
            <a:chExt cx="812800" cy="272545"/>
          </a:xfrm>
        </p:grpSpPr>
        <p:sp>
          <p:nvSpPr>
            <p:cNvPr name="Freeform 16" id="16"/>
            <p:cNvSpPr/>
            <p:nvPr/>
          </p:nvSpPr>
          <p:spPr>
            <a:xfrm flipH="false" flipV="false" rot="0">
              <a:off x="0" y="0"/>
              <a:ext cx="812800" cy="272545"/>
            </a:xfrm>
            <a:custGeom>
              <a:avLst/>
              <a:gdLst/>
              <a:ahLst/>
              <a:cxnLst/>
              <a:rect r="r" b="b" t="t" l="l"/>
              <a:pathLst>
                <a:path h="272545" w="812800">
                  <a:moveTo>
                    <a:pt x="127941" y="0"/>
                  </a:moveTo>
                  <a:lnTo>
                    <a:pt x="684859" y="0"/>
                  </a:lnTo>
                  <a:cubicBezTo>
                    <a:pt x="718791" y="0"/>
                    <a:pt x="751333" y="13479"/>
                    <a:pt x="775327" y="37473"/>
                  </a:cubicBezTo>
                  <a:cubicBezTo>
                    <a:pt x="799321" y="61467"/>
                    <a:pt x="812800" y="94009"/>
                    <a:pt x="812800" y="127941"/>
                  </a:cubicBezTo>
                  <a:lnTo>
                    <a:pt x="812800" y="144604"/>
                  </a:lnTo>
                  <a:cubicBezTo>
                    <a:pt x="812800" y="178536"/>
                    <a:pt x="799321" y="211079"/>
                    <a:pt x="775327" y="235072"/>
                  </a:cubicBezTo>
                  <a:cubicBezTo>
                    <a:pt x="751333" y="259066"/>
                    <a:pt x="718791" y="272545"/>
                    <a:pt x="684859" y="272545"/>
                  </a:cubicBezTo>
                  <a:lnTo>
                    <a:pt x="127941" y="272545"/>
                  </a:lnTo>
                  <a:cubicBezTo>
                    <a:pt x="94009" y="272545"/>
                    <a:pt x="61467" y="259066"/>
                    <a:pt x="37473" y="235072"/>
                  </a:cubicBezTo>
                  <a:cubicBezTo>
                    <a:pt x="13479" y="211079"/>
                    <a:pt x="0" y="178536"/>
                    <a:pt x="0" y="144604"/>
                  </a:cubicBezTo>
                  <a:lnTo>
                    <a:pt x="0" y="127941"/>
                  </a:lnTo>
                  <a:cubicBezTo>
                    <a:pt x="0" y="94009"/>
                    <a:pt x="13479" y="61467"/>
                    <a:pt x="37473" y="37473"/>
                  </a:cubicBezTo>
                  <a:cubicBezTo>
                    <a:pt x="61467" y="13479"/>
                    <a:pt x="94009" y="0"/>
                    <a:pt x="127941" y="0"/>
                  </a:cubicBezTo>
                  <a:close/>
                </a:path>
              </a:pathLst>
            </a:custGeom>
            <a:solidFill>
              <a:srgbClr val="C0D1DF"/>
            </a:solidFill>
          </p:spPr>
        </p:sp>
        <p:sp>
          <p:nvSpPr>
            <p:cNvPr name="TextBox 17" id="17"/>
            <p:cNvSpPr txBox="true"/>
            <p:nvPr/>
          </p:nvSpPr>
          <p:spPr>
            <a:xfrm>
              <a:off x="0" y="-38100"/>
              <a:ext cx="812800" cy="310645"/>
            </a:xfrm>
            <a:prstGeom prst="rect">
              <a:avLst/>
            </a:prstGeom>
          </p:spPr>
          <p:txBody>
            <a:bodyPr anchor="ctr" rtlCol="false" tIns="50800" lIns="50800" bIns="50800" rIns="50800"/>
            <a:lstStyle/>
            <a:p>
              <a:pPr algn="ctr">
                <a:lnSpc>
                  <a:spcPts val="2659"/>
                </a:lnSpc>
              </a:pPr>
            </a:p>
          </p:txBody>
        </p:sp>
      </p:grpSp>
      <p:sp>
        <p:nvSpPr>
          <p:cNvPr name="TextBox 18" id="18"/>
          <p:cNvSpPr txBox="true"/>
          <p:nvPr/>
        </p:nvSpPr>
        <p:spPr>
          <a:xfrm rot="0">
            <a:off x="5361047" y="4190856"/>
            <a:ext cx="3486328" cy="5010785"/>
          </a:xfrm>
          <a:prstGeom prst="rect">
            <a:avLst/>
          </a:prstGeom>
        </p:spPr>
        <p:txBody>
          <a:bodyPr anchor="t" rtlCol="false" tIns="0" lIns="0" bIns="0" rIns="0">
            <a:spAutoFit/>
          </a:bodyPr>
          <a:lstStyle/>
          <a:p>
            <a:pPr algn="ctr">
              <a:lnSpc>
                <a:spcPts val="3640"/>
              </a:lnSpc>
            </a:pPr>
            <a:r>
              <a:rPr lang="en-US" sz="2600">
                <a:solidFill>
                  <a:srgbClr val="2E3A44"/>
                </a:solidFill>
                <a:latin typeface="Nunito"/>
                <a:ea typeface="Nunito"/>
                <a:cs typeface="Nunito"/>
                <a:sym typeface="Nunito"/>
              </a:rPr>
              <a:t>Uses Google Gemini AI for reading receipt images</a:t>
            </a:r>
          </a:p>
          <a:p>
            <a:pPr algn="ctr">
              <a:lnSpc>
                <a:spcPts val="3640"/>
              </a:lnSpc>
            </a:pPr>
            <a:r>
              <a:rPr lang="en-US" sz="2600">
                <a:solidFill>
                  <a:srgbClr val="2E3A44"/>
                </a:solidFill>
                <a:latin typeface="Nunito"/>
                <a:ea typeface="Nunito"/>
                <a:cs typeface="Nunito"/>
                <a:sym typeface="Nunito"/>
              </a:rPr>
              <a:t>Extracts structured data such as merchant name, date, and total amount</a:t>
            </a:r>
          </a:p>
          <a:p>
            <a:pPr algn="ctr">
              <a:lnSpc>
                <a:spcPts val="3640"/>
              </a:lnSpc>
            </a:pPr>
            <a:r>
              <a:rPr lang="en-US" sz="2600">
                <a:solidFill>
                  <a:srgbClr val="2E3A44"/>
                </a:solidFill>
                <a:latin typeface="Nunito"/>
                <a:ea typeface="Nunito"/>
                <a:cs typeface="Nunito"/>
                <a:sym typeface="Nunito"/>
              </a:rPr>
              <a:t>Ensures consistent output using strict JSON formatting</a:t>
            </a:r>
          </a:p>
          <a:p>
            <a:pPr algn="ctr">
              <a:lnSpc>
                <a:spcPts val="3640"/>
              </a:lnSpc>
            </a:pPr>
          </a:p>
        </p:txBody>
      </p:sp>
      <p:sp>
        <p:nvSpPr>
          <p:cNvPr name="TextBox 19" id="19"/>
          <p:cNvSpPr txBox="true"/>
          <p:nvPr/>
        </p:nvSpPr>
        <p:spPr>
          <a:xfrm rot="0">
            <a:off x="5869041" y="3130701"/>
            <a:ext cx="2470340" cy="669925"/>
          </a:xfrm>
          <a:prstGeom prst="rect">
            <a:avLst/>
          </a:prstGeom>
        </p:spPr>
        <p:txBody>
          <a:bodyPr anchor="t" rtlCol="false" tIns="0" lIns="0" bIns="0" rIns="0">
            <a:spAutoFit/>
          </a:bodyPr>
          <a:lstStyle/>
          <a:p>
            <a:pPr algn="ctr">
              <a:lnSpc>
                <a:spcPts val="5599"/>
              </a:lnSpc>
            </a:pPr>
            <a:r>
              <a:rPr lang="en-US" sz="3999" b="true">
                <a:solidFill>
                  <a:srgbClr val="2E3A44"/>
                </a:solidFill>
                <a:latin typeface="Nunito Bold"/>
                <a:ea typeface="Nunito Bold"/>
                <a:cs typeface="Nunito Bold"/>
                <a:sym typeface="Nunito Bold"/>
              </a:rPr>
              <a:t>Brain</a:t>
            </a:r>
          </a:p>
        </p:txBody>
      </p:sp>
      <p:grpSp>
        <p:nvGrpSpPr>
          <p:cNvPr name="Group 20" id="20"/>
          <p:cNvGrpSpPr/>
          <p:nvPr/>
        </p:nvGrpSpPr>
        <p:grpSpPr>
          <a:xfrm rot="0">
            <a:off x="9640739" y="2981592"/>
            <a:ext cx="3086100" cy="1034820"/>
            <a:chOff x="0" y="0"/>
            <a:chExt cx="812800" cy="272545"/>
          </a:xfrm>
        </p:grpSpPr>
        <p:sp>
          <p:nvSpPr>
            <p:cNvPr name="Freeform 21" id="21"/>
            <p:cNvSpPr/>
            <p:nvPr/>
          </p:nvSpPr>
          <p:spPr>
            <a:xfrm flipH="false" flipV="false" rot="0">
              <a:off x="0" y="0"/>
              <a:ext cx="812800" cy="272545"/>
            </a:xfrm>
            <a:custGeom>
              <a:avLst/>
              <a:gdLst/>
              <a:ahLst/>
              <a:cxnLst/>
              <a:rect r="r" b="b" t="t" l="l"/>
              <a:pathLst>
                <a:path h="272545" w="812800">
                  <a:moveTo>
                    <a:pt x="127941" y="0"/>
                  </a:moveTo>
                  <a:lnTo>
                    <a:pt x="684859" y="0"/>
                  </a:lnTo>
                  <a:cubicBezTo>
                    <a:pt x="718791" y="0"/>
                    <a:pt x="751333" y="13479"/>
                    <a:pt x="775327" y="37473"/>
                  </a:cubicBezTo>
                  <a:cubicBezTo>
                    <a:pt x="799321" y="61467"/>
                    <a:pt x="812800" y="94009"/>
                    <a:pt x="812800" y="127941"/>
                  </a:cubicBezTo>
                  <a:lnTo>
                    <a:pt x="812800" y="144604"/>
                  </a:lnTo>
                  <a:cubicBezTo>
                    <a:pt x="812800" y="178536"/>
                    <a:pt x="799321" y="211079"/>
                    <a:pt x="775327" y="235072"/>
                  </a:cubicBezTo>
                  <a:cubicBezTo>
                    <a:pt x="751333" y="259066"/>
                    <a:pt x="718791" y="272545"/>
                    <a:pt x="684859" y="272545"/>
                  </a:cubicBezTo>
                  <a:lnTo>
                    <a:pt x="127941" y="272545"/>
                  </a:lnTo>
                  <a:cubicBezTo>
                    <a:pt x="94009" y="272545"/>
                    <a:pt x="61467" y="259066"/>
                    <a:pt x="37473" y="235072"/>
                  </a:cubicBezTo>
                  <a:cubicBezTo>
                    <a:pt x="13479" y="211079"/>
                    <a:pt x="0" y="178536"/>
                    <a:pt x="0" y="144604"/>
                  </a:cubicBezTo>
                  <a:lnTo>
                    <a:pt x="0" y="127941"/>
                  </a:lnTo>
                  <a:cubicBezTo>
                    <a:pt x="0" y="94009"/>
                    <a:pt x="13479" y="61467"/>
                    <a:pt x="37473" y="37473"/>
                  </a:cubicBezTo>
                  <a:cubicBezTo>
                    <a:pt x="61467" y="13479"/>
                    <a:pt x="94009" y="0"/>
                    <a:pt x="127941" y="0"/>
                  </a:cubicBezTo>
                  <a:close/>
                </a:path>
              </a:pathLst>
            </a:custGeom>
            <a:solidFill>
              <a:srgbClr val="C0D1DF"/>
            </a:solidFill>
          </p:spPr>
        </p:sp>
        <p:sp>
          <p:nvSpPr>
            <p:cNvPr name="TextBox 22" id="22"/>
            <p:cNvSpPr txBox="true"/>
            <p:nvPr/>
          </p:nvSpPr>
          <p:spPr>
            <a:xfrm>
              <a:off x="0" y="-38100"/>
              <a:ext cx="812800" cy="310645"/>
            </a:xfrm>
            <a:prstGeom prst="rect">
              <a:avLst/>
            </a:prstGeom>
          </p:spPr>
          <p:txBody>
            <a:bodyPr anchor="ctr" rtlCol="false" tIns="50800" lIns="50800" bIns="50800" rIns="50800"/>
            <a:lstStyle/>
            <a:p>
              <a:pPr algn="ctr">
                <a:lnSpc>
                  <a:spcPts val="2659"/>
                </a:lnSpc>
              </a:pPr>
            </a:p>
          </p:txBody>
        </p:sp>
      </p:grpSp>
      <p:sp>
        <p:nvSpPr>
          <p:cNvPr name="TextBox 23" id="23"/>
          <p:cNvSpPr txBox="true"/>
          <p:nvPr/>
        </p:nvSpPr>
        <p:spPr>
          <a:xfrm rot="0">
            <a:off x="9440625" y="4190856"/>
            <a:ext cx="3486328" cy="4096385"/>
          </a:xfrm>
          <a:prstGeom prst="rect">
            <a:avLst/>
          </a:prstGeom>
        </p:spPr>
        <p:txBody>
          <a:bodyPr anchor="t" rtlCol="false" tIns="0" lIns="0" bIns="0" rIns="0">
            <a:spAutoFit/>
          </a:bodyPr>
          <a:lstStyle/>
          <a:p>
            <a:pPr algn="ctr">
              <a:lnSpc>
                <a:spcPts val="3640"/>
              </a:lnSpc>
            </a:pPr>
            <a:r>
              <a:rPr lang="en-US" sz="2600">
                <a:solidFill>
                  <a:srgbClr val="2E3A44"/>
                </a:solidFill>
                <a:latin typeface="Nunito"/>
                <a:ea typeface="Nunito"/>
                <a:cs typeface="Nunito"/>
                <a:sym typeface="Nunito"/>
              </a:rPr>
              <a:t>Uses SQLite database for persistent storage</a:t>
            </a:r>
          </a:p>
          <a:p>
            <a:pPr algn="ctr">
              <a:lnSpc>
                <a:spcPts val="3640"/>
              </a:lnSpc>
            </a:pPr>
            <a:r>
              <a:rPr lang="en-US" sz="2600">
                <a:solidFill>
                  <a:srgbClr val="2E3A44"/>
                </a:solidFill>
                <a:latin typeface="Nunito"/>
                <a:ea typeface="Nunito"/>
                <a:cs typeface="Nunito"/>
                <a:sym typeface="Nunito"/>
              </a:rPr>
              <a:t>Stores receipt details and categorized expenses</a:t>
            </a:r>
          </a:p>
          <a:p>
            <a:pPr algn="ctr">
              <a:lnSpc>
                <a:spcPts val="3640"/>
              </a:lnSpc>
            </a:pPr>
            <a:r>
              <a:rPr lang="en-US" sz="2600">
                <a:solidFill>
                  <a:srgbClr val="2E3A44"/>
                </a:solidFill>
                <a:latin typeface="Nunito"/>
                <a:ea typeface="Nunito"/>
                <a:cs typeface="Nunito"/>
                <a:sym typeface="Nunito"/>
              </a:rPr>
              <a:t>Enables long-term expense tracking and analysis</a:t>
            </a:r>
          </a:p>
          <a:p>
            <a:pPr algn="ctr">
              <a:lnSpc>
                <a:spcPts val="3640"/>
              </a:lnSpc>
            </a:pPr>
          </a:p>
        </p:txBody>
      </p:sp>
      <p:sp>
        <p:nvSpPr>
          <p:cNvPr name="TextBox 24" id="24"/>
          <p:cNvSpPr txBox="true"/>
          <p:nvPr/>
        </p:nvSpPr>
        <p:spPr>
          <a:xfrm rot="0">
            <a:off x="9950131" y="3130701"/>
            <a:ext cx="2467316" cy="669925"/>
          </a:xfrm>
          <a:prstGeom prst="rect">
            <a:avLst/>
          </a:prstGeom>
        </p:spPr>
        <p:txBody>
          <a:bodyPr anchor="t" rtlCol="false" tIns="0" lIns="0" bIns="0" rIns="0">
            <a:spAutoFit/>
          </a:bodyPr>
          <a:lstStyle/>
          <a:p>
            <a:pPr algn="ctr">
              <a:lnSpc>
                <a:spcPts val="5599"/>
              </a:lnSpc>
            </a:pPr>
            <a:r>
              <a:rPr lang="en-US" sz="3999" b="true">
                <a:solidFill>
                  <a:srgbClr val="2E3A44"/>
                </a:solidFill>
                <a:latin typeface="Nunito Bold"/>
                <a:ea typeface="Nunito Bold"/>
                <a:cs typeface="Nunito Bold"/>
                <a:sym typeface="Nunito Bold"/>
              </a:rPr>
              <a:t>Memory</a:t>
            </a:r>
          </a:p>
        </p:txBody>
      </p:sp>
      <p:grpSp>
        <p:nvGrpSpPr>
          <p:cNvPr name="Group 25" id="25"/>
          <p:cNvGrpSpPr/>
          <p:nvPr/>
        </p:nvGrpSpPr>
        <p:grpSpPr>
          <a:xfrm rot="0">
            <a:off x="13720317" y="2981592"/>
            <a:ext cx="3086100" cy="1034820"/>
            <a:chOff x="0" y="0"/>
            <a:chExt cx="812800" cy="272545"/>
          </a:xfrm>
        </p:grpSpPr>
        <p:sp>
          <p:nvSpPr>
            <p:cNvPr name="Freeform 26" id="26"/>
            <p:cNvSpPr/>
            <p:nvPr/>
          </p:nvSpPr>
          <p:spPr>
            <a:xfrm flipH="false" flipV="false" rot="0">
              <a:off x="0" y="0"/>
              <a:ext cx="812800" cy="272545"/>
            </a:xfrm>
            <a:custGeom>
              <a:avLst/>
              <a:gdLst/>
              <a:ahLst/>
              <a:cxnLst/>
              <a:rect r="r" b="b" t="t" l="l"/>
              <a:pathLst>
                <a:path h="272545" w="812800">
                  <a:moveTo>
                    <a:pt x="127941" y="0"/>
                  </a:moveTo>
                  <a:lnTo>
                    <a:pt x="684859" y="0"/>
                  </a:lnTo>
                  <a:cubicBezTo>
                    <a:pt x="718791" y="0"/>
                    <a:pt x="751333" y="13479"/>
                    <a:pt x="775327" y="37473"/>
                  </a:cubicBezTo>
                  <a:cubicBezTo>
                    <a:pt x="799321" y="61467"/>
                    <a:pt x="812800" y="94009"/>
                    <a:pt x="812800" y="127941"/>
                  </a:cubicBezTo>
                  <a:lnTo>
                    <a:pt x="812800" y="144604"/>
                  </a:lnTo>
                  <a:cubicBezTo>
                    <a:pt x="812800" y="178536"/>
                    <a:pt x="799321" y="211079"/>
                    <a:pt x="775327" y="235072"/>
                  </a:cubicBezTo>
                  <a:cubicBezTo>
                    <a:pt x="751333" y="259066"/>
                    <a:pt x="718791" y="272545"/>
                    <a:pt x="684859" y="272545"/>
                  </a:cubicBezTo>
                  <a:lnTo>
                    <a:pt x="127941" y="272545"/>
                  </a:lnTo>
                  <a:cubicBezTo>
                    <a:pt x="94009" y="272545"/>
                    <a:pt x="61467" y="259066"/>
                    <a:pt x="37473" y="235072"/>
                  </a:cubicBezTo>
                  <a:cubicBezTo>
                    <a:pt x="13479" y="211079"/>
                    <a:pt x="0" y="178536"/>
                    <a:pt x="0" y="144604"/>
                  </a:cubicBezTo>
                  <a:lnTo>
                    <a:pt x="0" y="127941"/>
                  </a:lnTo>
                  <a:cubicBezTo>
                    <a:pt x="0" y="94009"/>
                    <a:pt x="13479" y="61467"/>
                    <a:pt x="37473" y="37473"/>
                  </a:cubicBezTo>
                  <a:cubicBezTo>
                    <a:pt x="61467" y="13479"/>
                    <a:pt x="94009" y="0"/>
                    <a:pt x="127941" y="0"/>
                  </a:cubicBezTo>
                  <a:close/>
                </a:path>
              </a:pathLst>
            </a:custGeom>
            <a:solidFill>
              <a:srgbClr val="C0D1DF"/>
            </a:solidFill>
          </p:spPr>
        </p:sp>
        <p:sp>
          <p:nvSpPr>
            <p:cNvPr name="TextBox 27" id="27"/>
            <p:cNvSpPr txBox="true"/>
            <p:nvPr/>
          </p:nvSpPr>
          <p:spPr>
            <a:xfrm>
              <a:off x="0" y="-38100"/>
              <a:ext cx="812800" cy="310645"/>
            </a:xfrm>
            <a:prstGeom prst="rect">
              <a:avLst/>
            </a:prstGeom>
          </p:spPr>
          <p:txBody>
            <a:bodyPr anchor="ctr" rtlCol="false" tIns="50800" lIns="50800" bIns="50800" rIns="50800"/>
            <a:lstStyle/>
            <a:p>
              <a:pPr algn="ctr">
                <a:lnSpc>
                  <a:spcPts val="2659"/>
                </a:lnSpc>
              </a:pPr>
            </a:p>
          </p:txBody>
        </p:sp>
      </p:grpSp>
      <p:sp>
        <p:nvSpPr>
          <p:cNvPr name="TextBox 28" id="28"/>
          <p:cNvSpPr txBox="true"/>
          <p:nvPr/>
        </p:nvSpPr>
        <p:spPr>
          <a:xfrm rot="0">
            <a:off x="13520203" y="4190856"/>
            <a:ext cx="3486328" cy="3639185"/>
          </a:xfrm>
          <a:prstGeom prst="rect">
            <a:avLst/>
          </a:prstGeom>
        </p:spPr>
        <p:txBody>
          <a:bodyPr anchor="t" rtlCol="false" tIns="0" lIns="0" bIns="0" rIns="0">
            <a:spAutoFit/>
          </a:bodyPr>
          <a:lstStyle/>
          <a:p>
            <a:pPr algn="ctr">
              <a:lnSpc>
                <a:spcPts val="3640"/>
              </a:lnSpc>
            </a:pPr>
            <a:r>
              <a:rPr lang="en-US" sz="2600">
                <a:solidFill>
                  <a:srgbClr val="2E3A44"/>
                </a:solidFill>
                <a:latin typeface="Nunito"/>
                <a:ea typeface="Nunito"/>
                <a:cs typeface="Nunito"/>
                <a:sym typeface="Nunito"/>
              </a:rPr>
              <a:t>Clear separation between UI, AI processing, and data storage</a:t>
            </a:r>
          </a:p>
          <a:p>
            <a:pPr algn="ctr">
              <a:lnSpc>
                <a:spcPts val="3640"/>
              </a:lnSpc>
            </a:pPr>
            <a:r>
              <a:rPr lang="en-US" sz="2600">
                <a:solidFill>
                  <a:srgbClr val="2E3A44"/>
                </a:solidFill>
                <a:latin typeface="Nunito"/>
                <a:ea typeface="Nunito"/>
                <a:cs typeface="Nunito"/>
                <a:sym typeface="Nunito"/>
              </a:rPr>
              <a:t>Scalable design suitable for future enhancements</a:t>
            </a:r>
          </a:p>
          <a:p>
            <a:pPr algn="ctr">
              <a:lnSpc>
                <a:spcPts val="3640"/>
              </a:lnSpc>
            </a:pPr>
          </a:p>
        </p:txBody>
      </p:sp>
      <p:sp>
        <p:nvSpPr>
          <p:cNvPr name="TextBox 29" id="29"/>
          <p:cNvSpPr txBox="true"/>
          <p:nvPr/>
        </p:nvSpPr>
        <p:spPr>
          <a:xfrm rot="0">
            <a:off x="14094950" y="3130701"/>
            <a:ext cx="2336835" cy="669925"/>
          </a:xfrm>
          <a:prstGeom prst="rect">
            <a:avLst/>
          </a:prstGeom>
        </p:spPr>
        <p:txBody>
          <a:bodyPr anchor="t" rtlCol="false" tIns="0" lIns="0" bIns="0" rIns="0">
            <a:spAutoFit/>
          </a:bodyPr>
          <a:lstStyle/>
          <a:p>
            <a:pPr algn="ctr">
              <a:lnSpc>
                <a:spcPts val="5599"/>
              </a:lnSpc>
            </a:pPr>
            <a:r>
              <a:rPr lang="en-US" sz="3999" b="true">
                <a:solidFill>
                  <a:srgbClr val="2E3A44"/>
                </a:solidFill>
                <a:latin typeface="Nunito Bold"/>
                <a:ea typeface="Nunito Bold"/>
                <a:cs typeface="Nunito Bold"/>
                <a:sym typeface="Nunito Bold"/>
              </a:rPr>
              <a:t>Design</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5245194" y="-1345629"/>
            <a:ext cx="3517329" cy="3517329"/>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27484"/>
            </a:solidFill>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5129662" y="7824967"/>
            <a:ext cx="8028675" cy="8028675"/>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0D1DF"/>
            </a:solidFill>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AutoShape 8" id="8"/>
          <p:cNvSpPr/>
          <p:nvPr/>
        </p:nvSpPr>
        <p:spPr>
          <a:xfrm>
            <a:off x="1028700" y="9258300"/>
            <a:ext cx="16185445" cy="0"/>
          </a:xfrm>
          <a:prstGeom prst="line">
            <a:avLst/>
          </a:prstGeom>
          <a:ln cap="flat" w="38100">
            <a:solidFill>
              <a:srgbClr val="2E3A44"/>
            </a:solidFill>
            <a:prstDash val="solid"/>
            <a:headEnd type="oval" len="lg" w="lg"/>
            <a:tailEnd type="oval" len="lg" w="lg"/>
          </a:ln>
        </p:spPr>
      </p:sp>
      <p:grpSp>
        <p:nvGrpSpPr>
          <p:cNvPr name="Group 9" id="9"/>
          <p:cNvGrpSpPr/>
          <p:nvPr/>
        </p:nvGrpSpPr>
        <p:grpSpPr>
          <a:xfrm rot="0">
            <a:off x="13276242" y="-767852"/>
            <a:ext cx="1586288" cy="1586288"/>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27484"/>
            </a:solidFill>
          </p:spPr>
        </p:sp>
        <p:sp>
          <p:nvSpPr>
            <p:cNvPr name="TextBox 11" id="11"/>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12" id="12"/>
          <p:cNvGrpSpPr/>
          <p:nvPr/>
        </p:nvGrpSpPr>
        <p:grpSpPr>
          <a:xfrm rot="0">
            <a:off x="2204697" y="3119120"/>
            <a:ext cx="580876" cy="580876"/>
            <a:chOff x="0" y="0"/>
            <a:chExt cx="812800" cy="812800"/>
          </a:xfrm>
        </p:grpSpPr>
        <p:sp>
          <p:nvSpPr>
            <p:cNvPr name="Freeform 13" id="1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27484"/>
            </a:solidFill>
          </p:spPr>
        </p:sp>
        <p:sp>
          <p:nvSpPr>
            <p:cNvPr name="TextBox 14" id="14"/>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15" id="15"/>
          <p:cNvSpPr/>
          <p:nvPr/>
        </p:nvSpPr>
        <p:spPr>
          <a:xfrm flipH="false" flipV="false" rot="0">
            <a:off x="1949255" y="3699996"/>
            <a:ext cx="15054603" cy="3559897"/>
          </a:xfrm>
          <a:custGeom>
            <a:avLst/>
            <a:gdLst/>
            <a:ahLst/>
            <a:cxnLst/>
            <a:rect r="r" b="b" t="t" l="l"/>
            <a:pathLst>
              <a:path h="3559897" w="15054603">
                <a:moveTo>
                  <a:pt x="0" y="0"/>
                </a:moveTo>
                <a:lnTo>
                  <a:pt x="15054603" y="0"/>
                </a:lnTo>
                <a:lnTo>
                  <a:pt x="15054603" y="3559897"/>
                </a:lnTo>
                <a:lnTo>
                  <a:pt x="0" y="3559897"/>
                </a:lnTo>
                <a:lnTo>
                  <a:pt x="0" y="0"/>
                </a:lnTo>
                <a:close/>
              </a:path>
            </a:pathLst>
          </a:custGeom>
          <a:blipFill>
            <a:blip r:embed="rId2"/>
            <a:stretch>
              <a:fillRect l="0" t="-16605" r="0" b="-16605"/>
            </a:stretch>
          </a:blipFill>
        </p:spPr>
      </p:sp>
      <p:sp>
        <p:nvSpPr>
          <p:cNvPr name="TextBox 16" id="16"/>
          <p:cNvSpPr txBox="true"/>
          <p:nvPr/>
        </p:nvSpPr>
        <p:spPr>
          <a:xfrm rot="0">
            <a:off x="3545846" y="1133251"/>
            <a:ext cx="11196307" cy="2854961"/>
          </a:xfrm>
          <a:prstGeom prst="rect">
            <a:avLst/>
          </a:prstGeom>
        </p:spPr>
        <p:txBody>
          <a:bodyPr anchor="t" rtlCol="false" tIns="0" lIns="0" bIns="0" rIns="0">
            <a:spAutoFit/>
          </a:bodyPr>
          <a:lstStyle/>
          <a:p>
            <a:pPr algn="ctr">
              <a:lnSpc>
                <a:spcPts val="10639"/>
              </a:lnSpc>
            </a:pPr>
            <a:r>
              <a:rPr lang="en-US" b="true" sz="7599">
                <a:solidFill>
                  <a:srgbClr val="2E3A44"/>
                </a:solidFill>
                <a:latin typeface="Nirand Bold"/>
                <a:ea typeface="Nirand Bold"/>
                <a:cs typeface="Nirand Bold"/>
                <a:sym typeface="Nirand Bold"/>
              </a:rPr>
              <a:t>SYSTEM ARCHITECTURE</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5442612" y="394769"/>
            <a:ext cx="6880458" cy="6880458"/>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0D1DF"/>
            </a:solidFill>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1523108" y="2540483"/>
            <a:ext cx="3517329" cy="3517329"/>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27484"/>
            </a:solidFill>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AutoShape 8" id="8"/>
          <p:cNvSpPr/>
          <p:nvPr/>
        </p:nvSpPr>
        <p:spPr>
          <a:xfrm>
            <a:off x="1028700" y="9258300"/>
            <a:ext cx="16185445" cy="0"/>
          </a:xfrm>
          <a:prstGeom prst="line">
            <a:avLst/>
          </a:prstGeom>
          <a:ln cap="flat" w="38100">
            <a:solidFill>
              <a:srgbClr val="2E3A44"/>
            </a:solidFill>
            <a:prstDash val="solid"/>
            <a:headEnd type="oval" len="lg" w="lg"/>
            <a:tailEnd type="oval" len="lg" w="lg"/>
          </a:ln>
        </p:spPr>
      </p:sp>
      <p:grpSp>
        <p:nvGrpSpPr>
          <p:cNvPr name="Group 9" id="9"/>
          <p:cNvGrpSpPr/>
          <p:nvPr/>
        </p:nvGrpSpPr>
        <p:grpSpPr>
          <a:xfrm rot="0">
            <a:off x="-557588" y="7275227"/>
            <a:ext cx="1586288" cy="1586288"/>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27484"/>
            </a:solidFill>
          </p:spPr>
        </p:sp>
        <p:sp>
          <p:nvSpPr>
            <p:cNvPr name="TextBox 11" id="11"/>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12" id="12"/>
          <p:cNvSpPr/>
          <p:nvPr/>
        </p:nvSpPr>
        <p:spPr>
          <a:xfrm flipH="false" flipV="false" rot="0">
            <a:off x="11309077" y="4474313"/>
            <a:ext cx="4546263" cy="3256777"/>
          </a:xfrm>
          <a:custGeom>
            <a:avLst/>
            <a:gdLst/>
            <a:ahLst/>
            <a:cxnLst/>
            <a:rect r="r" b="b" t="t" l="l"/>
            <a:pathLst>
              <a:path h="3256777" w="4546263">
                <a:moveTo>
                  <a:pt x="0" y="0"/>
                </a:moveTo>
                <a:lnTo>
                  <a:pt x="4546263" y="0"/>
                </a:lnTo>
                <a:lnTo>
                  <a:pt x="4546263" y="3256777"/>
                </a:lnTo>
                <a:lnTo>
                  <a:pt x="0" y="325677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3" id="13"/>
          <p:cNvSpPr txBox="true"/>
          <p:nvPr/>
        </p:nvSpPr>
        <p:spPr>
          <a:xfrm rot="0">
            <a:off x="2637809" y="3787373"/>
            <a:ext cx="8489429" cy="2724785"/>
          </a:xfrm>
          <a:prstGeom prst="rect">
            <a:avLst/>
          </a:prstGeom>
        </p:spPr>
        <p:txBody>
          <a:bodyPr anchor="t" rtlCol="false" tIns="0" lIns="0" bIns="0" rIns="0">
            <a:spAutoFit/>
          </a:bodyPr>
          <a:lstStyle/>
          <a:p>
            <a:pPr algn="ctr">
              <a:lnSpc>
                <a:spcPts val="3640"/>
              </a:lnSpc>
            </a:pPr>
            <a:r>
              <a:rPr lang="en-US" sz="2600">
                <a:solidFill>
                  <a:srgbClr val="2E3A44"/>
                </a:solidFill>
                <a:latin typeface="Nunito"/>
                <a:ea typeface="Nunito"/>
                <a:cs typeface="Nunito"/>
                <a:sym typeface="Nunito"/>
              </a:rPr>
              <a:t>The frontend of the system is implemented using Streamlit, providing a user-friendly web interface. It allows users to upload receipts, view stored records, and access expense analytics. The tab-based layout ensures easy navigation and efficient interaction with the application.</a:t>
            </a:r>
          </a:p>
        </p:txBody>
      </p:sp>
      <p:sp>
        <p:nvSpPr>
          <p:cNvPr name="TextBox 14" id="14"/>
          <p:cNvSpPr txBox="true"/>
          <p:nvPr/>
        </p:nvSpPr>
        <p:spPr>
          <a:xfrm rot="0">
            <a:off x="3192713" y="243908"/>
            <a:ext cx="11352530" cy="2722245"/>
          </a:xfrm>
          <a:prstGeom prst="rect">
            <a:avLst/>
          </a:prstGeom>
        </p:spPr>
        <p:txBody>
          <a:bodyPr anchor="t" rtlCol="false" tIns="0" lIns="0" bIns="0" rIns="0">
            <a:spAutoFit/>
          </a:bodyPr>
          <a:lstStyle/>
          <a:p>
            <a:pPr algn="ctr">
              <a:lnSpc>
                <a:spcPts val="10500"/>
              </a:lnSpc>
            </a:pPr>
            <a:r>
              <a:rPr lang="en-US" b="true" sz="7500">
                <a:solidFill>
                  <a:srgbClr val="2E3A44"/>
                </a:solidFill>
                <a:latin typeface="Nirand Bold"/>
                <a:ea typeface="Nirand Bold"/>
                <a:cs typeface="Nirand Bold"/>
                <a:sym typeface="Nirand Bold"/>
              </a:rPr>
              <a:t>FRONTEND </a:t>
            </a:r>
          </a:p>
          <a:p>
            <a:pPr algn="ctr">
              <a:lnSpc>
                <a:spcPts val="9660"/>
              </a:lnSpc>
            </a:pPr>
            <a:r>
              <a:rPr lang="en-US" b="true" sz="6900">
                <a:solidFill>
                  <a:srgbClr val="2E3A44"/>
                </a:solidFill>
                <a:latin typeface="Nirand Bold"/>
                <a:ea typeface="Nirand Bold"/>
                <a:cs typeface="Nirand Bold"/>
                <a:sym typeface="Nirand Bold"/>
              </a:rPr>
              <a:t>(USER INTERFACE)</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5442612" y="394769"/>
            <a:ext cx="6880458" cy="6880458"/>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0D1DF"/>
            </a:solidFill>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1523108" y="2540483"/>
            <a:ext cx="3517329" cy="3517329"/>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27484"/>
            </a:solidFill>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AutoShape 8" id="8"/>
          <p:cNvSpPr/>
          <p:nvPr/>
        </p:nvSpPr>
        <p:spPr>
          <a:xfrm>
            <a:off x="1028700" y="9258300"/>
            <a:ext cx="16185445" cy="0"/>
          </a:xfrm>
          <a:prstGeom prst="line">
            <a:avLst/>
          </a:prstGeom>
          <a:ln cap="flat" w="38100">
            <a:solidFill>
              <a:srgbClr val="2E3A44"/>
            </a:solidFill>
            <a:prstDash val="solid"/>
            <a:headEnd type="oval" len="lg" w="lg"/>
            <a:tailEnd type="oval" len="lg" w="lg"/>
          </a:ln>
        </p:spPr>
      </p:sp>
      <p:grpSp>
        <p:nvGrpSpPr>
          <p:cNvPr name="Group 9" id="9"/>
          <p:cNvGrpSpPr/>
          <p:nvPr/>
        </p:nvGrpSpPr>
        <p:grpSpPr>
          <a:xfrm rot="0">
            <a:off x="-557588" y="7275227"/>
            <a:ext cx="1586288" cy="1586288"/>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27484"/>
            </a:solidFill>
          </p:spPr>
        </p:sp>
        <p:sp>
          <p:nvSpPr>
            <p:cNvPr name="TextBox 11" id="11"/>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12" id="12"/>
          <p:cNvSpPr/>
          <p:nvPr/>
        </p:nvSpPr>
        <p:spPr>
          <a:xfrm flipH="false" flipV="false" rot="0">
            <a:off x="12100713" y="3996944"/>
            <a:ext cx="2719552" cy="2719552"/>
          </a:xfrm>
          <a:custGeom>
            <a:avLst/>
            <a:gdLst/>
            <a:ahLst/>
            <a:cxnLst/>
            <a:rect r="r" b="b" t="t" l="l"/>
            <a:pathLst>
              <a:path h="2719552" w="2719552">
                <a:moveTo>
                  <a:pt x="0" y="0"/>
                </a:moveTo>
                <a:lnTo>
                  <a:pt x="2719552" y="0"/>
                </a:lnTo>
                <a:lnTo>
                  <a:pt x="2719552" y="2719552"/>
                </a:lnTo>
                <a:lnTo>
                  <a:pt x="0" y="271955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3" id="13"/>
          <p:cNvSpPr txBox="true"/>
          <p:nvPr/>
        </p:nvSpPr>
        <p:spPr>
          <a:xfrm rot="0">
            <a:off x="2687601" y="4228194"/>
            <a:ext cx="8489429" cy="2724785"/>
          </a:xfrm>
          <a:prstGeom prst="rect">
            <a:avLst/>
          </a:prstGeom>
        </p:spPr>
        <p:txBody>
          <a:bodyPr anchor="t" rtlCol="false" tIns="0" lIns="0" bIns="0" rIns="0">
            <a:spAutoFit/>
          </a:bodyPr>
          <a:lstStyle/>
          <a:p>
            <a:pPr algn="ctr">
              <a:lnSpc>
                <a:spcPts val="3640"/>
              </a:lnSpc>
            </a:pPr>
            <a:r>
              <a:rPr lang="en-US" sz="2600">
                <a:solidFill>
                  <a:srgbClr val="2E3A44"/>
                </a:solidFill>
                <a:latin typeface="Nunito"/>
                <a:ea typeface="Nunito"/>
                <a:cs typeface="Nunito"/>
                <a:sym typeface="Nunito"/>
              </a:rPr>
              <a:t>The system uses Google Gemini 2.5 Flash to extract key receipt details such as merchant, date, total amount, and currency. Image preprocessing techniques like grayscale conversion and auto-contrast enhancement are applied to improve text clarity and ensure accurate, structured JSON output.</a:t>
            </a:r>
          </a:p>
        </p:txBody>
      </p:sp>
      <p:sp>
        <p:nvSpPr>
          <p:cNvPr name="TextBox 14" id="14"/>
          <p:cNvSpPr txBox="true"/>
          <p:nvPr/>
        </p:nvSpPr>
        <p:spPr>
          <a:xfrm rot="0">
            <a:off x="3467735" y="704850"/>
            <a:ext cx="11352530" cy="2586990"/>
          </a:xfrm>
          <a:prstGeom prst="rect">
            <a:avLst/>
          </a:prstGeom>
        </p:spPr>
        <p:txBody>
          <a:bodyPr anchor="t" rtlCol="false" tIns="0" lIns="0" bIns="0" rIns="0">
            <a:spAutoFit/>
          </a:bodyPr>
          <a:lstStyle/>
          <a:p>
            <a:pPr algn="ctr">
              <a:lnSpc>
                <a:spcPts val="9660"/>
              </a:lnSpc>
            </a:pPr>
            <a:r>
              <a:rPr lang="en-US" b="true" sz="6900">
                <a:solidFill>
                  <a:srgbClr val="2E3A44"/>
                </a:solidFill>
                <a:latin typeface="Nirand Bold"/>
                <a:ea typeface="Nirand Bold"/>
                <a:cs typeface="Nirand Bold"/>
                <a:sym typeface="Nirand Bold"/>
              </a:rPr>
              <a:t>AI EXTRACTION </a:t>
            </a:r>
          </a:p>
          <a:p>
            <a:pPr algn="ctr">
              <a:lnSpc>
                <a:spcPts val="9660"/>
              </a:lnSpc>
            </a:pPr>
            <a:r>
              <a:rPr lang="en-US" b="true" sz="6900">
                <a:solidFill>
                  <a:srgbClr val="2E3A44"/>
                </a:solidFill>
                <a:latin typeface="Nirand Bold"/>
                <a:ea typeface="Nirand Bold"/>
                <a:cs typeface="Nirand Bold"/>
                <a:sym typeface="Nirand Bold"/>
              </a:rPr>
              <a:t>&amp; IMAGE P</a:t>
            </a:r>
            <a:r>
              <a:rPr lang="en-US" b="true" sz="6900">
                <a:solidFill>
                  <a:srgbClr val="2E3A44"/>
                </a:solidFill>
                <a:latin typeface="Nirand Bold"/>
                <a:ea typeface="Nirand Bold"/>
                <a:cs typeface="Nirand Bold"/>
                <a:sym typeface="Nirand Bold"/>
              </a:rPr>
              <a:t>REPROCESSING</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5245194" y="-1345629"/>
            <a:ext cx="3517329" cy="3517329"/>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27484"/>
            </a:solidFill>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4437604" y="3967038"/>
            <a:ext cx="8028675" cy="8028675"/>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0D1DF"/>
            </a:solidFill>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AutoShape 8" id="8"/>
          <p:cNvSpPr/>
          <p:nvPr/>
        </p:nvSpPr>
        <p:spPr>
          <a:xfrm>
            <a:off x="1028700" y="9258300"/>
            <a:ext cx="16185445" cy="0"/>
          </a:xfrm>
          <a:prstGeom prst="line">
            <a:avLst/>
          </a:prstGeom>
          <a:ln cap="flat" w="38100">
            <a:solidFill>
              <a:srgbClr val="2E3A44"/>
            </a:solidFill>
            <a:prstDash val="solid"/>
            <a:headEnd type="oval" len="lg" w="lg"/>
            <a:tailEnd type="oval" len="lg" w="lg"/>
          </a:ln>
        </p:spPr>
      </p:sp>
      <p:grpSp>
        <p:nvGrpSpPr>
          <p:cNvPr name="Group 9" id="9"/>
          <p:cNvGrpSpPr/>
          <p:nvPr/>
        </p:nvGrpSpPr>
        <p:grpSpPr>
          <a:xfrm rot="0">
            <a:off x="17259300" y="3262130"/>
            <a:ext cx="1586288" cy="1586288"/>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27484"/>
            </a:solidFill>
          </p:spPr>
        </p:sp>
        <p:sp>
          <p:nvSpPr>
            <p:cNvPr name="TextBox 11" id="11"/>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12" id="12"/>
          <p:cNvSpPr/>
          <p:nvPr/>
        </p:nvSpPr>
        <p:spPr>
          <a:xfrm flipH="false" flipV="false" rot="0">
            <a:off x="3591071" y="3967038"/>
            <a:ext cx="3242826" cy="3591560"/>
          </a:xfrm>
          <a:custGeom>
            <a:avLst/>
            <a:gdLst/>
            <a:ahLst/>
            <a:cxnLst/>
            <a:rect r="r" b="b" t="t" l="l"/>
            <a:pathLst>
              <a:path h="3591560" w="3242826">
                <a:moveTo>
                  <a:pt x="0" y="0"/>
                </a:moveTo>
                <a:lnTo>
                  <a:pt x="3242826" y="0"/>
                </a:lnTo>
                <a:lnTo>
                  <a:pt x="3242826" y="3591560"/>
                </a:lnTo>
                <a:lnTo>
                  <a:pt x="0" y="359156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3" id="13"/>
          <p:cNvSpPr txBox="true"/>
          <p:nvPr/>
        </p:nvSpPr>
        <p:spPr>
          <a:xfrm rot="0">
            <a:off x="3415202" y="1101944"/>
            <a:ext cx="11145697" cy="1495425"/>
          </a:xfrm>
          <a:prstGeom prst="rect">
            <a:avLst/>
          </a:prstGeom>
        </p:spPr>
        <p:txBody>
          <a:bodyPr anchor="t" rtlCol="false" tIns="0" lIns="0" bIns="0" rIns="0">
            <a:spAutoFit/>
          </a:bodyPr>
          <a:lstStyle/>
          <a:p>
            <a:pPr algn="ctr">
              <a:lnSpc>
                <a:spcPts val="10500"/>
              </a:lnSpc>
            </a:pPr>
            <a:r>
              <a:rPr lang="en-US" b="true" sz="7500">
                <a:solidFill>
                  <a:srgbClr val="2E3A44"/>
                </a:solidFill>
                <a:latin typeface="Nirand Bold"/>
                <a:ea typeface="Nirand Bold"/>
                <a:cs typeface="Nirand Bold"/>
                <a:sym typeface="Nirand Bold"/>
              </a:rPr>
              <a:t>DATABASE STRUCTURE</a:t>
            </a:r>
          </a:p>
        </p:txBody>
      </p:sp>
      <p:sp>
        <p:nvSpPr>
          <p:cNvPr name="TextBox 14" id="14"/>
          <p:cNvSpPr txBox="true"/>
          <p:nvPr/>
        </p:nvSpPr>
        <p:spPr>
          <a:xfrm rot="0">
            <a:off x="7588022" y="3195455"/>
            <a:ext cx="9098257" cy="4363143"/>
          </a:xfrm>
          <a:prstGeom prst="rect">
            <a:avLst/>
          </a:prstGeom>
        </p:spPr>
        <p:txBody>
          <a:bodyPr anchor="t" rtlCol="false" tIns="0" lIns="0" bIns="0" rIns="0">
            <a:spAutoFit/>
          </a:bodyPr>
          <a:lstStyle/>
          <a:p>
            <a:pPr algn="l">
              <a:lnSpc>
                <a:spcPts val="4354"/>
              </a:lnSpc>
            </a:pPr>
            <a:r>
              <a:rPr lang="en-US" sz="3110" b="true">
                <a:solidFill>
                  <a:srgbClr val="2E3A44"/>
                </a:solidFill>
                <a:latin typeface="Nunito Bold"/>
                <a:ea typeface="Nunito Bold"/>
                <a:cs typeface="Nunito Bold"/>
                <a:sym typeface="Nunito Bold"/>
              </a:rPr>
              <a:t>The syst</a:t>
            </a:r>
            <a:r>
              <a:rPr lang="en-US" sz="3110" b="true">
                <a:solidFill>
                  <a:srgbClr val="2E3A44"/>
                </a:solidFill>
                <a:latin typeface="Nunito Bold"/>
                <a:ea typeface="Nunito Bold"/>
                <a:cs typeface="Nunito Bold"/>
                <a:sym typeface="Nunito Bold"/>
              </a:rPr>
              <a:t>em uses a SQLite database.</a:t>
            </a:r>
          </a:p>
          <a:p>
            <a:pPr algn="l">
              <a:lnSpc>
                <a:spcPts val="4354"/>
              </a:lnSpc>
            </a:pPr>
            <a:r>
              <a:rPr lang="en-US" sz="3110" b="true">
                <a:solidFill>
                  <a:srgbClr val="2E3A44"/>
                </a:solidFill>
                <a:latin typeface="Nunito Bold"/>
                <a:ea typeface="Nunito Bold"/>
                <a:cs typeface="Nunito Bold"/>
                <a:sym typeface="Nunito Bold"/>
              </a:rPr>
              <a:t>Each receipt record stores:</a:t>
            </a:r>
          </a:p>
          <a:p>
            <a:pPr algn="just" marL="671514" indent="-335757" lvl="1">
              <a:lnSpc>
                <a:spcPts val="4354"/>
              </a:lnSpc>
              <a:buFont typeface="Arial"/>
              <a:buChar char="•"/>
            </a:pPr>
            <a:r>
              <a:rPr lang="en-US" sz="3110">
                <a:solidFill>
                  <a:srgbClr val="2E3A44"/>
                </a:solidFill>
                <a:latin typeface="Nunito"/>
                <a:ea typeface="Nunito"/>
                <a:cs typeface="Nunito"/>
                <a:sym typeface="Nunito"/>
              </a:rPr>
              <a:t>Merchant name</a:t>
            </a:r>
          </a:p>
          <a:p>
            <a:pPr algn="just" marL="671514" indent="-335757" lvl="1">
              <a:lnSpc>
                <a:spcPts val="4354"/>
              </a:lnSpc>
              <a:buFont typeface="Arial"/>
              <a:buChar char="•"/>
            </a:pPr>
            <a:r>
              <a:rPr lang="en-US" sz="3110">
                <a:solidFill>
                  <a:srgbClr val="2E3A44"/>
                </a:solidFill>
                <a:latin typeface="Nunito"/>
                <a:ea typeface="Nunito"/>
                <a:cs typeface="Nunito"/>
                <a:sym typeface="Nunito"/>
              </a:rPr>
              <a:t>Date of purchase</a:t>
            </a:r>
          </a:p>
          <a:p>
            <a:pPr algn="just" marL="671514" indent="-335757" lvl="1">
              <a:lnSpc>
                <a:spcPts val="4354"/>
              </a:lnSpc>
              <a:buFont typeface="Arial"/>
              <a:buChar char="•"/>
            </a:pPr>
            <a:r>
              <a:rPr lang="en-US" sz="3110">
                <a:solidFill>
                  <a:srgbClr val="2E3A44"/>
                </a:solidFill>
                <a:latin typeface="Nunito"/>
                <a:ea typeface="Nunito"/>
                <a:cs typeface="Nunito"/>
                <a:sym typeface="Nunito"/>
              </a:rPr>
              <a:t>Total amount</a:t>
            </a:r>
          </a:p>
          <a:p>
            <a:pPr algn="just" marL="671514" indent="-335757" lvl="1">
              <a:lnSpc>
                <a:spcPts val="4354"/>
              </a:lnSpc>
              <a:buFont typeface="Arial"/>
              <a:buChar char="•"/>
            </a:pPr>
            <a:r>
              <a:rPr lang="en-US" sz="3110">
                <a:solidFill>
                  <a:srgbClr val="2E3A44"/>
                </a:solidFill>
                <a:latin typeface="Nunito"/>
                <a:ea typeface="Nunito"/>
                <a:cs typeface="Nunito"/>
                <a:sym typeface="Nunito"/>
              </a:rPr>
              <a:t>Expense category</a:t>
            </a:r>
          </a:p>
          <a:p>
            <a:pPr algn="just" marL="671514" indent="-335757" lvl="1">
              <a:lnSpc>
                <a:spcPts val="4354"/>
              </a:lnSpc>
              <a:buFont typeface="Arial"/>
              <a:buChar char="•"/>
            </a:pPr>
            <a:r>
              <a:rPr lang="en-US" sz="3110">
                <a:solidFill>
                  <a:srgbClr val="2E3A44"/>
                </a:solidFill>
                <a:latin typeface="Nunito"/>
                <a:ea typeface="Nunito"/>
                <a:cs typeface="Nunito"/>
                <a:sym typeface="Nunito"/>
              </a:rPr>
              <a:t>id of bill</a:t>
            </a:r>
          </a:p>
          <a:p>
            <a:pPr algn="l">
              <a:lnSpc>
                <a:spcPts val="4354"/>
              </a:lnSpc>
            </a:pP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5245194" y="-1345629"/>
            <a:ext cx="3517329" cy="3517329"/>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27484"/>
            </a:solidFill>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4437604" y="3967038"/>
            <a:ext cx="8028675" cy="8028675"/>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0D1DF"/>
            </a:solidFill>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AutoShape 8" id="8"/>
          <p:cNvSpPr/>
          <p:nvPr/>
        </p:nvSpPr>
        <p:spPr>
          <a:xfrm>
            <a:off x="1028700" y="9258300"/>
            <a:ext cx="16185445" cy="0"/>
          </a:xfrm>
          <a:prstGeom prst="line">
            <a:avLst/>
          </a:prstGeom>
          <a:ln cap="flat" w="38100">
            <a:solidFill>
              <a:srgbClr val="2E3A44"/>
            </a:solidFill>
            <a:prstDash val="solid"/>
            <a:headEnd type="oval" len="lg" w="lg"/>
            <a:tailEnd type="oval" len="lg" w="lg"/>
          </a:ln>
        </p:spPr>
      </p:sp>
      <p:grpSp>
        <p:nvGrpSpPr>
          <p:cNvPr name="Group 9" id="9"/>
          <p:cNvGrpSpPr/>
          <p:nvPr/>
        </p:nvGrpSpPr>
        <p:grpSpPr>
          <a:xfrm rot="0">
            <a:off x="17259300" y="3262130"/>
            <a:ext cx="1586288" cy="1586288"/>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27484"/>
            </a:solidFill>
          </p:spPr>
        </p:sp>
        <p:sp>
          <p:nvSpPr>
            <p:cNvPr name="TextBox 11" id="11"/>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12" id="12"/>
          <p:cNvSpPr/>
          <p:nvPr/>
        </p:nvSpPr>
        <p:spPr>
          <a:xfrm flipH="false" flipV="false" rot="0">
            <a:off x="13322007" y="3179942"/>
            <a:ext cx="3456353" cy="3336952"/>
          </a:xfrm>
          <a:custGeom>
            <a:avLst/>
            <a:gdLst/>
            <a:ahLst/>
            <a:cxnLst/>
            <a:rect r="r" b="b" t="t" l="l"/>
            <a:pathLst>
              <a:path h="3336952" w="3456353">
                <a:moveTo>
                  <a:pt x="0" y="0"/>
                </a:moveTo>
                <a:lnTo>
                  <a:pt x="3456353" y="0"/>
                </a:lnTo>
                <a:lnTo>
                  <a:pt x="3456353" y="3336952"/>
                </a:lnTo>
                <a:lnTo>
                  <a:pt x="0" y="333695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3" id="13"/>
          <p:cNvSpPr txBox="true"/>
          <p:nvPr/>
        </p:nvSpPr>
        <p:spPr>
          <a:xfrm rot="0">
            <a:off x="3591071" y="956503"/>
            <a:ext cx="12739659" cy="3063876"/>
          </a:xfrm>
          <a:prstGeom prst="rect">
            <a:avLst/>
          </a:prstGeom>
        </p:spPr>
        <p:txBody>
          <a:bodyPr anchor="t" rtlCol="false" tIns="0" lIns="0" bIns="0" rIns="0">
            <a:spAutoFit/>
          </a:bodyPr>
          <a:lstStyle/>
          <a:p>
            <a:pPr algn="l">
              <a:lnSpc>
                <a:spcPts val="6159"/>
              </a:lnSpc>
            </a:pPr>
            <a:r>
              <a:rPr lang="en-US" sz="4399" b="true">
                <a:solidFill>
                  <a:srgbClr val="2E3A44"/>
                </a:solidFill>
                <a:latin typeface="Nunito Bold"/>
                <a:ea typeface="Nunito Bold"/>
                <a:cs typeface="Nunito Bold"/>
                <a:sym typeface="Nunito Bold"/>
              </a:rPr>
              <a:t>DUPLICATE RECEIPT DETECTION :</a:t>
            </a:r>
          </a:p>
          <a:p>
            <a:pPr algn="l">
              <a:lnSpc>
                <a:spcPts val="3640"/>
              </a:lnSpc>
            </a:pPr>
            <a:r>
              <a:rPr lang="en-US" sz="2600">
                <a:solidFill>
                  <a:srgbClr val="2E3A44"/>
                </a:solidFill>
                <a:latin typeface="Nunito"/>
                <a:ea typeface="Nunito"/>
                <a:cs typeface="Nunito"/>
                <a:sym typeface="Nunito"/>
              </a:rPr>
              <a:t>To prevent</a:t>
            </a:r>
            <a:r>
              <a:rPr lang="en-US" sz="2600">
                <a:solidFill>
                  <a:srgbClr val="2E3A44"/>
                </a:solidFill>
                <a:latin typeface="Nunito"/>
                <a:ea typeface="Nunito"/>
                <a:cs typeface="Nunito"/>
                <a:sym typeface="Nunito"/>
              </a:rPr>
              <a:t> duplicate bills:</a:t>
            </a:r>
          </a:p>
          <a:p>
            <a:pPr algn="l" marL="561341" indent="-280670" lvl="1">
              <a:lnSpc>
                <a:spcPts val="3640"/>
              </a:lnSpc>
              <a:buFont typeface="Arial"/>
              <a:buChar char="•"/>
            </a:pPr>
            <a:r>
              <a:rPr lang="en-US" sz="2600">
                <a:solidFill>
                  <a:srgbClr val="2E3A44"/>
                </a:solidFill>
                <a:latin typeface="Nunito"/>
                <a:ea typeface="Nunito"/>
                <a:cs typeface="Nunito"/>
                <a:sym typeface="Nunito"/>
              </a:rPr>
              <a:t>A hash is generated from the uploaded file</a:t>
            </a:r>
          </a:p>
          <a:p>
            <a:pPr algn="l" marL="561341" indent="-280670" lvl="1">
              <a:lnSpc>
                <a:spcPts val="3640"/>
              </a:lnSpc>
              <a:buFont typeface="Arial"/>
              <a:buChar char="•"/>
            </a:pPr>
            <a:r>
              <a:rPr lang="en-US" sz="2600">
                <a:solidFill>
                  <a:srgbClr val="2E3A44"/>
                </a:solidFill>
                <a:latin typeface="Nunito"/>
                <a:ea typeface="Nunito"/>
                <a:cs typeface="Nunito"/>
                <a:sym typeface="Nunito"/>
              </a:rPr>
              <a:t>The hash is checked before storing the receipt</a:t>
            </a:r>
          </a:p>
          <a:p>
            <a:pPr algn="l">
              <a:lnSpc>
                <a:spcPts val="3640"/>
              </a:lnSpc>
            </a:pPr>
            <a:r>
              <a:rPr lang="en-US" sz="2600">
                <a:solidFill>
                  <a:srgbClr val="2E3A44"/>
                </a:solidFill>
                <a:latin typeface="Nunito"/>
                <a:ea typeface="Nunito"/>
                <a:cs typeface="Nunito"/>
                <a:sym typeface="Nunito"/>
              </a:rPr>
              <a:t>If a duplicate is detected, the receipt is not saved.</a:t>
            </a:r>
          </a:p>
          <a:p>
            <a:pPr algn="l">
              <a:lnSpc>
                <a:spcPts val="3640"/>
              </a:lnSpc>
            </a:pPr>
          </a:p>
        </p:txBody>
      </p:sp>
      <p:sp>
        <p:nvSpPr>
          <p:cNvPr name="TextBox 14" id="14"/>
          <p:cNvSpPr txBox="true"/>
          <p:nvPr/>
        </p:nvSpPr>
        <p:spPr>
          <a:xfrm rot="0">
            <a:off x="3591071" y="3969549"/>
            <a:ext cx="10185645" cy="4892676"/>
          </a:xfrm>
          <a:prstGeom prst="rect">
            <a:avLst/>
          </a:prstGeom>
        </p:spPr>
        <p:txBody>
          <a:bodyPr anchor="t" rtlCol="false" tIns="0" lIns="0" bIns="0" rIns="0">
            <a:spAutoFit/>
          </a:bodyPr>
          <a:lstStyle/>
          <a:p>
            <a:pPr algn="l">
              <a:lnSpc>
                <a:spcPts val="6159"/>
              </a:lnSpc>
            </a:pPr>
            <a:r>
              <a:rPr lang="en-US" sz="4399" b="true">
                <a:solidFill>
                  <a:srgbClr val="2E3A44"/>
                </a:solidFill>
                <a:latin typeface="Nunito Bold"/>
                <a:ea typeface="Nunito Bold"/>
                <a:cs typeface="Nunito Bold"/>
                <a:sym typeface="Nunito Bold"/>
              </a:rPr>
              <a:t>EXPENSE CATEGORIZATION :</a:t>
            </a:r>
          </a:p>
          <a:p>
            <a:pPr algn="l">
              <a:lnSpc>
                <a:spcPts val="3640"/>
              </a:lnSpc>
            </a:pPr>
            <a:r>
              <a:rPr lang="en-US" sz="2600">
                <a:solidFill>
                  <a:srgbClr val="2E3A44"/>
                </a:solidFill>
                <a:latin typeface="Nunito"/>
                <a:ea typeface="Nunito"/>
                <a:cs typeface="Nunito"/>
                <a:sym typeface="Nunito"/>
              </a:rPr>
              <a:t>R</a:t>
            </a:r>
            <a:r>
              <a:rPr lang="en-US" sz="2600">
                <a:solidFill>
                  <a:srgbClr val="2E3A44"/>
                </a:solidFill>
                <a:latin typeface="Nunito"/>
                <a:ea typeface="Nunito"/>
                <a:cs typeface="Nunito"/>
                <a:sym typeface="Nunito"/>
              </a:rPr>
              <a:t>eceipts are automatically classified into categories:</a:t>
            </a:r>
          </a:p>
          <a:p>
            <a:pPr algn="l" marL="561341" indent="-280670" lvl="1">
              <a:lnSpc>
                <a:spcPts val="3640"/>
              </a:lnSpc>
              <a:buFont typeface="Arial"/>
              <a:buChar char="•"/>
            </a:pPr>
            <a:r>
              <a:rPr lang="en-US" sz="2600">
                <a:solidFill>
                  <a:srgbClr val="2E3A44"/>
                </a:solidFill>
                <a:latin typeface="Nunito"/>
                <a:ea typeface="Nunito"/>
                <a:cs typeface="Nunito"/>
                <a:sym typeface="Nunito"/>
              </a:rPr>
              <a:t>Groceries</a:t>
            </a:r>
          </a:p>
          <a:p>
            <a:pPr algn="l" marL="561341" indent="-280670" lvl="1">
              <a:lnSpc>
                <a:spcPts val="3640"/>
              </a:lnSpc>
              <a:buFont typeface="Arial"/>
              <a:buChar char="•"/>
            </a:pPr>
            <a:r>
              <a:rPr lang="en-US" sz="2600">
                <a:solidFill>
                  <a:srgbClr val="2E3A44"/>
                </a:solidFill>
                <a:latin typeface="Nunito"/>
                <a:ea typeface="Nunito"/>
                <a:cs typeface="Nunito"/>
                <a:sym typeface="Nunito"/>
              </a:rPr>
              <a:t>Medi</a:t>
            </a:r>
            <a:r>
              <a:rPr lang="en-US" sz="2600">
                <a:solidFill>
                  <a:srgbClr val="2E3A44"/>
                </a:solidFill>
                <a:latin typeface="Nunito"/>
                <a:ea typeface="Nunito"/>
                <a:cs typeface="Nunito"/>
                <a:sym typeface="Nunito"/>
              </a:rPr>
              <a:t>cal</a:t>
            </a:r>
          </a:p>
          <a:p>
            <a:pPr algn="l" marL="561341" indent="-280670" lvl="1">
              <a:lnSpc>
                <a:spcPts val="3640"/>
              </a:lnSpc>
              <a:buFont typeface="Arial"/>
              <a:buChar char="•"/>
            </a:pPr>
            <a:r>
              <a:rPr lang="en-US" sz="2600">
                <a:solidFill>
                  <a:srgbClr val="2E3A44"/>
                </a:solidFill>
                <a:latin typeface="Nunito"/>
                <a:ea typeface="Nunito"/>
                <a:cs typeface="Nunito"/>
                <a:sym typeface="Nunito"/>
              </a:rPr>
              <a:t>Restaurant</a:t>
            </a:r>
          </a:p>
          <a:p>
            <a:pPr algn="l" marL="561341" indent="-280670" lvl="1">
              <a:lnSpc>
                <a:spcPts val="3640"/>
              </a:lnSpc>
              <a:buFont typeface="Arial"/>
              <a:buChar char="•"/>
            </a:pPr>
            <a:r>
              <a:rPr lang="en-US" sz="2600">
                <a:solidFill>
                  <a:srgbClr val="2E3A44"/>
                </a:solidFill>
                <a:latin typeface="Nunito"/>
                <a:ea typeface="Nunito"/>
                <a:cs typeface="Nunito"/>
                <a:sym typeface="Nunito"/>
              </a:rPr>
              <a:t>Travel</a:t>
            </a:r>
          </a:p>
          <a:p>
            <a:pPr algn="l" marL="561341" indent="-280670" lvl="1">
              <a:lnSpc>
                <a:spcPts val="3640"/>
              </a:lnSpc>
              <a:buFont typeface="Arial"/>
              <a:buChar char="•"/>
            </a:pPr>
            <a:r>
              <a:rPr lang="en-US" sz="2600">
                <a:solidFill>
                  <a:srgbClr val="2E3A44"/>
                </a:solidFill>
                <a:latin typeface="Nunito"/>
                <a:ea typeface="Nunito"/>
                <a:cs typeface="Nunito"/>
                <a:sym typeface="Nunito"/>
              </a:rPr>
              <a:t>Utilities</a:t>
            </a:r>
          </a:p>
          <a:p>
            <a:pPr algn="l" marL="561341" indent="-280670" lvl="1">
              <a:lnSpc>
                <a:spcPts val="3640"/>
              </a:lnSpc>
              <a:buFont typeface="Arial"/>
              <a:buChar char="•"/>
            </a:pPr>
            <a:r>
              <a:rPr lang="en-US" sz="2600">
                <a:solidFill>
                  <a:srgbClr val="2E3A44"/>
                </a:solidFill>
                <a:latin typeface="Nunito"/>
                <a:ea typeface="Nunito"/>
                <a:cs typeface="Nunito"/>
                <a:sym typeface="Nunito"/>
              </a:rPr>
              <a:t>Other</a:t>
            </a:r>
          </a:p>
          <a:p>
            <a:pPr algn="l">
              <a:lnSpc>
                <a:spcPts val="3640"/>
              </a:lnSpc>
            </a:pPr>
            <a:r>
              <a:rPr lang="en-US" sz="2600">
                <a:solidFill>
                  <a:srgbClr val="2E3A44"/>
                </a:solidFill>
                <a:latin typeface="Nunito"/>
                <a:ea typeface="Nunito"/>
                <a:cs typeface="Nunito"/>
                <a:sym typeface="Nunito"/>
              </a:rPr>
              <a:t>Categorization is done using merchant name keywords.</a:t>
            </a:r>
          </a:p>
          <a:p>
            <a:pPr algn="l">
              <a:lnSpc>
                <a:spcPts val="3640"/>
              </a:lnSpc>
            </a:pPr>
          </a:p>
        </p:txBody>
      </p:sp>
    </p:spTree>
  </p:cSld>
  <p:clrMapOvr>
    <a:masterClrMapping/>
  </p:clrMapOvr>
</p:sld>
</file>

<file path=ppt/slides/slide10.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12819468" y="7372841"/>
            <a:ext cx="8028675" cy="8028675"/>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0D1DF"/>
            </a:solidFill>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AutoShape 5" id="5"/>
          <p:cNvSpPr/>
          <p:nvPr/>
        </p:nvSpPr>
        <p:spPr>
          <a:xfrm>
            <a:off x="1028700" y="9258300"/>
            <a:ext cx="16185445" cy="0"/>
          </a:xfrm>
          <a:prstGeom prst="line">
            <a:avLst/>
          </a:prstGeom>
          <a:ln cap="flat" w="38100">
            <a:solidFill>
              <a:srgbClr val="2E3A44"/>
            </a:solidFill>
            <a:prstDash val="solid"/>
            <a:headEnd type="oval" len="lg" w="lg"/>
            <a:tailEnd type="oval" len="lg" w="lg"/>
          </a:ln>
        </p:spPr>
      </p:sp>
      <p:grpSp>
        <p:nvGrpSpPr>
          <p:cNvPr name="Group 6" id="6"/>
          <p:cNvGrpSpPr/>
          <p:nvPr/>
        </p:nvGrpSpPr>
        <p:grpSpPr>
          <a:xfrm rot="0">
            <a:off x="322038" y="-1115182"/>
            <a:ext cx="2230365" cy="2230365"/>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27484"/>
            </a:solidFill>
          </p:spPr>
        </p:sp>
        <p:sp>
          <p:nvSpPr>
            <p:cNvPr name="TextBox 8" id="8"/>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TextBox 9" id="9"/>
          <p:cNvSpPr txBox="true"/>
          <p:nvPr/>
        </p:nvSpPr>
        <p:spPr>
          <a:xfrm rot="0">
            <a:off x="2704799" y="733425"/>
            <a:ext cx="13471652" cy="2276474"/>
          </a:xfrm>
          <a:prstGeom prst="rect">
            <a:avLst/>
          </a:prstGeom>
        </p:spPr>
        <p:txBody>
          <a:bodyPr anchor="t" rtlCol="false" tIns="0" lIns="0" bIns="0" rIns="0">
            <a:spAutoFit/>
          </a:bodyPr>
          <a:lstStyle/>
          <a:p>
            <a:pPr algn="ctr">
              <a:lnSpc>
                <a:spcPts val="8400"/>
              </a:lnSpc>
            </a:pPr>
            <a:r>
              <a:rPr lang="en-US" b="true" sz="6000">
                <a:solidFill>
                  <a:srgbClr val="2E3A44"/>
                </a:solidFill>
                <a:latin typeface="Nirand Bold"/>
                <a:ea typeface="Nirand Bold"/>
                <a:cs typeface="Nirand Bold"/>
                <a:sym typeface="Nirand Bold"/>
              </a:rPr>
              <a:t>ADVANCED RECEIPT &amp; INVOICE PARSING</a:t>
            </a:r>
          </a:p>
        </p:txBody>
      </p:sp>
      <p:grpSp>
        <p:nvGrpSpPr>
          <p:cNvPr name="Group 10" id="10"/>
          <p:cNvGrpSpPr/>
          <p:nvPr/>
        </p:nvGrpSpPr>
        <p:grpSpPr>
          <a:xfrm rot="0">
            <a:off x="3980368" y="3499001"/>
            <a:ext cx="3693171" cy="1034820"/>
            <a:chOff x="0" y="0"/>
            <a:chExt cx="972687" cy="272545"/>
          </a:xfrm>
        </p:grpSpPr>
        <p:sp>
          <p:nvSpPr>
            <p:cNvPr name="Freeform 11" id="11"/>
            <p:cNvSpPr/>
            <p:nvPr/>
          </p:nvSpPr>
          <p:spPr>
            <a:xfrm flipH="false" flipV="false" rot="0">
              <a:off x="0" y="0"/>
              <a:ext cx="972687" cy="272545"/>
            </a:xfrm>
            <a:custGeom>
              <a:avLst/>
              <a:gdLst/>
              <a:ahLst/>
              <a:cxnLst/>
              <a:rect r="r" b="b" t="t" l="l"/>
              <a:pathLst>
                <a:path h="272545" w="972687">
                  <a:moveTo>
                    <a:pt x="106910" y="0"/>
                  </a:moveTo>
                  <a:lnTo>
                    <a:pt x="865777" y="0"/>
                  </a:lnTo>
                  <a:cubicBezTo>
                    <a:pt x="894131" y="0"/>
                    <a:pt x="921324" y="11264"/>
                    <a:pt x="941374" y="31313"/>
                  </a:cubicBezTo>
                  <a:cubicBezTo>
                    <a:pt x="961423" y="51363"/>
                    <a:pt x="972687" y="78556"/>
                    <a:pt x="972687" y="106910"/>
                  </a:cubicBezTo>
                  <a:lnTo>
                    <a:pt x="972687" y="165635"/>
                  </a:lnTo>
                  <a:cubicBezTo>
                    <a:pt x="972687" y="193989"/>
                    <a:pt x="961423" y="221182"/>
                    <a:pt x="941374" y="241232"/>
                  </a:cubicBezTo>
                  <a:cubicBezTo>
                    <a:pt x="921324" y="261281"/>
                    <a:pt x="894131" y="272545"/>
                    <a:pt x="865777" y="272545"/>
                  </a:cubicBezTo>
                  <a:lnTo>
                    <a:pt x="106910" y="272545"/>
                  </a:lnTo>
                  <a:cubicBezTo>
                    <a:pt x="78556" y="272545"/>
                    <a:pt x="51363" y="261281"/>
                    <a:pt x="31313" y="241232"/>
                  </a:cubicBezTo>
                  <a:cubicBezTo>
                    <a:pt x="11264" y="221182"/>
                    <a:pt x="0" y="193989"/>
                    <a:pt x="0" y="165635"/>
                  </a:cubicBezTo>
                  <a:lnTo>
                    <a:pt x="0" y="106910"/>
                  </a:lnTo>
                  <a:cubicBezTo>
                    <a:pt x="0" y="78556"/>
                    <a:pt x="11264" y="51363"/>
                    <a:pt x="31313" y="31313"/>
                  </a:cubicBezTo>
                  <a:cubicBezTo>
                    <a:pt x="51363" y="11264"/>
                    <a:pt x="78556" y="0"/>
                    <a:pt x="106910" y="0"/>
                  </a:cubicBezTo>
                  <a:close/>
                </a:path>
              </a:pathLst>
            </a:custGeom>
            <a:solidFill>
              <a:srgbClr val="C0D1DF"/>
            </a:solidFill>
          </p:spPr>
        </p:sp>
        <p:sp>
          <p:nvSpPr>
            <p:cNvPr name="TextBox 12" id="12"/>
            <p:cNvSpPr txBox="true"/>
            <p:nvPr/>
          </p:nvSpPr>
          <p:spPr>
            <a:xfrm>
              <a:off x="0" y="-38100"/>
              <a:ext cx="972687" cy="310645"/>
            </a:xfrm>
            <a:prstGeom prst="rect">
              <a:avLst/>
            </a:prstGeom>
          </p:spPr>
          <p:txBody>
            <a:bodyPr anchor="ctr" rtlCol="false" tIns="50800" lIns="50800" bIns="50800" rIns="50800"/>
            <a:lstStyle/>
            <a:p>
              <a:pPr algn="ctr">
                <a:lnSpc>
                  <a:spcPts val="2659"/>
                </a:lnSpc>
              </a:pPr>
            </a:p>
          </p:txBody>
        </p:sp>
      </p:grpSp>
      <p:sp>
        <p:nvSpPr>
          <p:cNvPr name="TextBox 13" id="13"/>
          <p:cNvSpPr txBox="true"/>
          <p:nvPr/>
        </p:nvSpPr>
        <p:spPr>
          <a:xfrm rot="0">
            <a:off x="3740889" y="4708266"/>
            <a:ext cx="4172128" cy="3639185"/>
          </a:xfrm>
          <a:prstGeom prst="rect">
            <a:avLst/>
          </a:prstGeom>
        </p:spPr>
        <p:txBody>
          <a:bodyPr anchor="t" rtlCol="false" tIns="0" lIns="0" bIns="0" rIns="0">
            <a:spAutoFit/>
          </a:bodyPr>
          <a:lstStyle/>
          <a:p>
            <a:pPr algn="ctr">
              <a:lnSpc>
                <a:spcPts val="3640"/>
              </a:lnSpc>
            </a:pPr>
            <a:r>
              <a:rPr lang="en-US" sz="2600">
                <a:solidFill>
                  <a:srgbClr val="2E3A44"/>
                </a:solidFill>
                <a:latin typeface="Nunito"/>
                <a:ea typeface="Nunito"/>
                <a:cs typeface="Nunito"/>
                <a:sym typeface="Nunito"/>
              </a:rPr>
              <a:t>Identifies invoice date, totals, taxes (GST, CGST, SGST, IGST), currency, invoice numbers.</a:t>
            </a:r>
          </a:p>
          <a:p>
            <a:pPr algn="ctr">
              <a:lnSpc>
                <a:spcPts val="3640"/>
              </a:lnSpc>
            </a:pPr>
            <a:r>
              <a:rPr lang="en-US" sz="2600">
                <a:solidFill>
                  <a:srgbClr val="2E3A44"/>
                </a:solidFill>
                <a:latin typeface="Nunito"/>
                <a:ea typeface="Nunito"/>
                <a:cs typeface="Nunito"/>
                <a:sym typeface="Nunito"/>
              </a:rPr>
              <a:t>Handles multiple formats and variations across vendors.</a:t>
            </a:r>
          </a:p>
          <a:p>
            <a:pPr algn="ctr">
              <a:lnSpc>
                <a:spcPts val="3640"/>
              </a:lnSpc>
            </a:pPr>
          </a:p>
        </p:txBody>
      </p:sp>
      <p:sp>
        <p:nvSpPr>
          <p:cNvPr name="TextBox 14" id="14"/>
          <p:cNvSpPr txBox="true"/>
          <p:nvPr/>
        </p:nvSpPr>
        <p:spPr>
          <a:xfrm rot="0">
            <a:off x="4348811" y="3648111"/>
            <a:ext cx="2956284" cy="669925"/>
          </a:xfrm>
          <a:prstGeom prst="rect">
            <a:avLst/>
          </a:prstGeom>
        </p:spPr>
        <p:txBody>
          <a:bodyPr anchor="t" rtlCol="false" tIns="0" lIns="0" bIns="0" rIns="0">
            <a:spAutoFit/>
          </a:bodyPr>
          <a:lstStyle/>
          <a:p>
            <a:pPr algn="ctr">
              <a:lnSpc>
                <a:spcPts val="5599"/>
              </a:lnSpc>
            </a:pPr>
            <a:r>
              <a:rPr lang="en-US" sz="3999" b="true">
                <a:solidFill>
                  <a:srgbClr val="2E3A44"/>
                </a:solidFill>
                <a:latin typeface="Nunito Bold"/>
                <a:ea typeface="Nunito Bold"/>
                <a:cs typeface="Nunito Bold"/>
                <a:sym typeface="Nunito Bold"/>
              </a:rPr>
              <a:t>Regex </a:t>
            </a:r>
          </a:p>
        </p:txBody>
      </p:sp>
      <p:grpSp>
        <p:nvGrpSpPr>
          <p:cNvPr name="Group 15" id="15"/>
          <p:cNvGrpSpPr/>
          <p:nvPr/>
        </p:nvGrpSpPr>
        <p:grpSpPr>
          <a:xfrm rot="0">
            <a:off x="10612729" y="3499001"/>
            <a:ext cx="3609437" cy="1034820"/>
            <a:chOff x="0" y="0"/>
            <a:chExt cx="950634" cy="272545"/>
          </a:xfrm>
        </p:grpSpPr>
        <p:sp>
          <p:nvSpPr>
            <p:cNvPr name="Freeform 16" id="16"/>
            <p:cNvSpPr/>
            <p:nvPr/>
          </p:nvSpPr>
          <p:spPr>
            <a:xfrm flipH="false" flipV="false" rot="0">
              <a:off x="0" y="0"/>
              <a:ext cx="950634" cy="272545"/>
            </a:xfrm>
            <a:custGeom>
              <a:avLst/>
              <a:gdLst/>
              <a:ahLst/>
              <a:cxnLst/>
              <a:rect r="r" b="b" t="t" l="l"/>
              <a:pathLst>
                <a:path h="272545" w="950634">
                  <a:moveTo>
                    <a:pt x="109390" y="0"/>
                  </a:moveTo>
                  <a:lnTo>
                    <a:pt x="841243" y="0"/>
                  </a:lnTo>
                  <a:cubicBezTo>
                    <a:pt x="901658" y="0"/>
                    <a:pt x="950634" y="48976"/>
                    <a:pt x="950634" y="109390"/>
                  </a:cubicBezTo>
                  <a:lnTo>
                    <a:pt x="950634" y="163155"/>
                  </a:lnTo>
                  <a:cubicBezTo>
                    <a:pt x="950634" y="192167"/>
                    <a:pt x="939108" y="219991"/>
                    <a:pt x="918594" y="240505"/>
                  </a:cubicBezTo>
                  <a:cubicBezTo>
                    <a:pt x="898079" y="261020"/>
                    <a:pt x="870255" y="272545"/>
                    <a:pt x="841243" y="272545"/>
                  </a:cubicBezTo>
                  <a:lnTo>
                    <a:pt x="109390" y="272545"/>
                  </a:lnTo>
                  <a:cubicBezTo>
                    <a:pt x="80378" y="272545"/>
                    <a:pt x="52554" y="261020"/>
                    <a:pt x="32040" y="240505"/>
                  </a:cubicBezTo>
                  <a:cubicBezTo>
                    <a:pt x="11525" y="219991"/>
                    <a:pt x="0" y="192167"/>
                    <a:pt x="0" y="163155"/>
                  </a:cubicBezTo>
                  <a:lnTo>
                    <a:pt x="0" y="109390"/>
                  </a:lnTo>
                  <a:cubicBezTo>
                    <a:pt x="0" y="80378"/>
                    <a:pt x="11525" y="52554"/>
                    <a:pt x="32040" y="32040"/>
                  </a:cubicBezTo>
                  <a:cubicBezTo>
                    <a:pt x="52554" y="11525"/>
                    <a:pt x="80378" y="0"/>
                    <a:pt x="109390" y="0"/>
                  </a:cubicBezTo>
                  <a:close/>
                </a:path>
              </a:pathLst>
            </a:custGeom>
            <a:solidFill>
              <a:srgbClr val="C0D1DF"/>
            </a:solidFill>
          </p:spPr>
        </p:sp>
        <p:sp>
          <p:nvSpPr>
            <p:cNvPr name="TextBox 17" id="17"/>
            <p:cNvSpPr txBox="true"/>
            <p:nvPr/>
          </p:nvSpPr>
          <p:spPr>
            <a:xfrm>
              <a:off x="0" y="-38100"/>
              <a:ext cx="950634" cy="310645"/>
            </a:xfrm>
            <a:prstGeom prst="rect">
              <a:avLst/>
            </a:prstGeom>
          </p:spPr>
          <p:txBody>
            <a:bodyPr anchor="ctr" rtlCol="false" tIns="50800" lIns="50800" bIns="50800" rIns="50800"/>
            <a:lstStyle/>
            <a:p>
              <a:pPr algn="ctr">
                <a:lnSpc>
                  <a:spcPts val="2659"/>
                </a:lnSpc>
              </a:pPr>
            </a:p>
          </p:txBody>
        </p:sp>
      </p:grpSp>
      <p:sp>
        <p:nvSpPr>
          <p:cNvPr name="TextBox 18" id="18"/>
          <p:cNvSpPr txBox="true"/>
          <p:nvPr/>
        </p:nvSpPr>
        <p:spPr>
          <a:xfrm rot="0">
            <a:off x="10378680" y="4708266"/>
            <a:ext cx="4077535" cy="4553585"/>
          </a:xfrm>
          <a:prstGeom prst="rect">
            <a:avLst/>
          </a:prstGeom>
        </p:spPr>
        <p:txBody>
          <a:bodyPr anchor="t" rtlCol="false" tIns="0" lIns="0" bIns="0" rIns="0">
            <a:spAutoFit/>
          </a:bodyPr>
          <a:lstStyle/>
          <a:p>
            <a:pPr algn="ctr">
              <a:lnSpc>
                <a:spcPts val="3640"/>
              </a:lnSpc>
            </a:pPr>
            <a:r>
              <a:rPr lang="en-US" sz="2600">
                <a:solidFill>
                  <a:srgbClr val="2E3A44"/>
                </a:solidFill>
                <a:latin typeface="Nunito"/>
                <a:ea typeface="Nunito"/>
                <a:cs typeface="Nunito"/>
                <a:sym typeface="Nunito"/>
              </a:rPr>
              <a:t>Detects merchant names and contextual keywords.</a:t>
            </a:r>
          </a:p>
          <a:p>
            <a:pPr algn="ctr">
              <a:lnSpc>
                <a:spcPts val="3640"/>
              </a:lnSpc>
            </a:pPr>
            <a:r>
              <a:rPr lang="en-US" sz="2600">
                <a:solidFill>
                  <a:srgbClr val="2E3A44"/>
                </a:solidFill>
                <a:latin typeface="Nunito"/>
                <a:ea typeface="Nunito"/>
                <a:cs typeface="Nunito"/>
                <a:sym typeface="Nunito"/>
              </a:rPr>
              <a:t>Differentiates subtotal, tax, and total amounts.</a:t>
            </a:r>
          </a:p>
          <a:p>
            <a:pPr algn="ctr">
              <a:lnSpc>
                <a:spcPts val="3640"/>
              </a:lnSpc>
            </a:pPr>
            <a:r>
              <a:rPr lang="en-US" sz="2600">
                <a:solidFill>
                  <a:srgbClr val="2E3A44"/>
                </a:solidFill>
                <a:latin typeface="Nunito"/>
                <a:ea typeface="Nunito"/>
                <a:cs typeface="Nunito"/>
                <a:sym typeface="Nunito"/>
              </a:rPr>
              <a:t>Extracts line items and associates prices with products.</a:t>
            </a:r>
          </a:p>
          <a:p>
            <a:pPr algn="ctr">
              <a:lnSpc>
                <a:spcPts val="3640"/>
              </a:lnSpc>
            </a:pPr>
            <a:r>
              <a:rPr lang="en-US" sz="2600">
                <a:solidFill>
                  <a:srgbClr val="2E3A44"/>
                </a:solidFill>
                <a:latin typeface="Nunito"/>
                <a:ea typeface="Nunito"/>
                <a:cs typeface="Nunito"/>
                <a:sym typeface="Nunito"/>
              </a:rPr>
              <a:t>Resolves ambiguities in numeric values.</a:t>
            </a:r>
          </a:p>
          <a:p>
            <a:pPr algn="ctr">
              <a:lnSpc>
                <a:spcPts val="3640"/>
              </a:lnSpc>
            </a:pPr>
          </a:p>
        </p:txBody>
      </p:sp>
      <p:sp>
        <p:nvSpPr>
          <p:cNvPr name="TextBox 19" id="19"/>
          <p:cNvSpPr txBox="true"/>
          <p:nvPr/>
        </p:nvSpPr>
        <p:spPr>
          <a:xfrm rot="0">
            <a:off x="10972819" y="3648111"/>
            <a:ext cx="2889257" cy="669925"/>
          </a:xfrm>
          <a:prstGeom prst="rect">
            <a:avLst/>
          </a:prstGeom>
        </p:spPr>
        <p:txBody>
          <a:bodyPr anchor="t" rtlCol="false" tIns="0" lIns="0" bIns="0" rIns="0">
            <a:spAutoFit/>
          </a:bodyPr>
          <a:lstStyle/>
          <a:p>
            <a:pPr algn="ctr">
              <a:lnSpc>
                <a:spcPts val="5599"/>
              </a:lnSpc>
            </a:pPr>
            <a:r>
              <a:rPr lang="en-US" sz="3999" b="true">
                <a:solidFill>
                  <a:srgbClr val="2E3A44"/>
                </a:solidFill>
                <a:latin typeface="Nunito Bold"/>
                <a:ea typeface="Nunito Bold"/>
                <a:cs typeface="Nunito Bold"/>
                <a:sym typeface="Nunito Bold"/>
              </a:rPr>
              <a:t>NLP</a:t>
            </a:r>
          </a:p>
        </p:txBody>
      </p:sp>
      <p:grpSp>
        <p:nvGrpSpPr>
          <p:cNvPr name="Group 20" id="20"/>
          <p:cNvGrpSpPr/>
          <p:nvPr/>
        </p:nvGrpSpPr>
        <p:grpSpPr>
          <a:xfrm rot="0">
            <a:off x="700411" y="7372841"/>
            <a:ext cx="1473620" cy="1473620"/>
            <a:chOff x="0" y="0"/>
            <a:chExt cx="812800" cy="812800"/>
          </a:xfrm>
        </p:grpSpPr>
        <p:sp>
          <p:nvSpPr>
            <p:cNvPr name="Freeform 21" id="2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27484"/>
            </a:solidFill>
          </p:spPr>
        </p:sp>
        <p:sp>
          <p:nvSpPr>
            <p:cNvPr name="TextBox 22" id="22"/>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C0D1DF"/>
        </a:solidFill>
      </p:bgPr>
    </p:bg>
    <p:spTree>
      <p:nvGrpSpPr>
        <p:cNvPr id="1" name=""/>
        <p:cNvGrpSpPr/>
        <p:nvPr/>
      </p:nvGrpSpPr>
      <p:grpSpPr>
        <a:xfrm>
          <a:off x="0" y="0"/>
          <a:ext cx="0" cy="0"/>
          <a:chOff x="0" y="0"/>
          <a:chExt cx="0" cy="0"/>
        </a:xfrm>
      </p:grpSpPr>
      <p:grpSp>
        <p:nvGrpSpPr>
          <p:cNvPr name="Group 2" id="2"/>
          <p:cNvGrpSpPr/>
          <p:nvPr/>
        </p:nvGrpSpPr>
        <p:grpSpPr>
          <a:xfrm rot="0">
            <a:off x="8119894" y="-1916547"/>
            <a:ext cx="14120094" cy="14120094"/>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AutoShape 5" id="5"/>
          <p:cNvSpPr/>
          <p:nvPr/>
        </p:nvSpPr>
        <p:spPr>
          <a:xfrm>
            <a:off x="1028700" y="9258300"/>
            <a:ext cx="16185445" cy="0"/>
          </a:xfrm>
          <a:prstGeom prst="line">
            <a:avLst/>
          </a:prstGeom>
          <a:ln cap="flat" w="38100">
            <a:solidFill>
              <a:srgbClr val="2E3A44"/>
            </a:solidFill>
            <a:prstDash val="solid"/>
            <a:headEnd type="oval" len="lg" w="lg"/>
            <a:tailEnd type="oval" len="lg" w="lg"/>
          </a:ln>
        </p:spPr>
      </p:sp>
      <p:grpSp>
        <p:nvGrpSpPr>
          <p:cNvPr name="Group 6" id="6"/>
          <p:cNvGrpSpPr/>
          <p:nvPr/>
        </p:nvGrpSpPr>
        <p:grpSpPr>
          <a:xfrm rot="0">
            <a:off x="322038" y="-1115182"/>
            <a:ext cx="2230365" cy="2230365"/>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27484"/>
            </a:solidFill>
          </p:spPr>
        </p:sp>
        <p:sp>
          <p:nvSpPr>
            <p:cNvPr name="TextBox 8" id="8"/>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TextBox 9" id="9"/>
          <p:cNvSpPr txBox="true"/>
          <p:nvPr/>
        </p:nvSpPr>
        <p:spPr>
          <a:xfrm rot="0">
            <a:off x="2816814" y="676275"/>
            <a:ext cx="12654372" cy="1495425"/>
          </a:xfrm>
          <a:prstGeom prst="rect">
            <a:avLst/>
          </a:prstGeom>
        </p:spPr>
        <p:txBody>
          <a:bodyPr anchor="t" rtlCol="false" tIns="0" lIns="0" bIns="0" rIns="0">
            <a:spAutoFit/>
          </a:bodyPr>
          <a:lstStyle/>
          <a:p>
            <a:pPr algn="ctr">
              <a:lnSpc>
                <a:spcPts val="10500"/>
              </a:lnSpc>
            </a:pPr>
            <a:r>
              <a:rPr lang="en-US" b="true" sz="7500">
                <a:solidFill>
                  <a:srgbClr val="2E3A44"/>
                </a:solidFill>
                <a:latin typeface="Nirand Bold"/>
                <a:ea typeface="Nirand Bold"/>
                <a:cs typeface="Nirand Bold"/>
                <a:sym typeface="Nirand Bold"/>
              </a:rPr>
              <a:t>ANALYTICS DASHBOARD</a:t>
            </a:r>
          </a:p>
        </p:txBody>
      </p:sp>
      <p:sp>
        <p:nvSpPr>
          <p:cNvPr name="TextBox 10" id="10"/>
          <p:cNvSpPr txBox="true"/>
          <p:nvPr/>
        </p:nvSpPr>
        <p:spPr>
          <a:xfrm rot="0">
            <a:off x="8823201" y="2939929"/>
            <a:ext cx="6952009" cy="4408170"/>
          </a:xfrm>
          <a:prstGeom prst="rect">
            <a:avLst/>
          </a:prstGeom>
        </p:spPr>
        <p:txBody>
          <a:bodyPr anchor="t" rtlCol="false" tIns="0" lIns="0" bIns="0" rIns="0">
            <a:spAutoFit/>
          </a:bodyPr>
          <a:lstStyle/>
          <a:p>
            <a:pPr algn="l">
              <a:lnSpc>
                <a:spcPts val="3919"/>
              </a:lnSpc>
            </a:pPr>
            <a:r>
              <a:rPr lang="en-US" sz="2799">
                <a:solidFill>
                  <a:srgbClr val="2E3A44"/>
                </a:solidFill>
                <a:latin typeface="Nunito"/>
                <a:ea typeface="Nunito"/>
                <a:cs typeface="Nunito"/>
                <a:sym typeface="Nunito"/>
              </a:rPr>
              <a:t>The analytics dashboard presents category-wise total spending to provide a clear overview of expenses. Bar charts and pie charts are used to compare spending across different categories and visualize expense distribution. This helps users easily understand where their money is being spent.</a:t>
            </a:r>
          </a:p>
          <a:p>
            <a:pPr algn="l">
              <a:lnSpc>
                <a:spcPts val="3640"/>
              </a:lnSpc>
            </a:pPr>
          </a:p>
        </p:txBody>
      </p:sp>
      <p:pic>
        <p:nvPicPr>
          <p:cNvPr name="Picture 11" id="11"/>
          <p:cNvPicPr>
            <a:picLocks noChangeAspect="true"/>
          </p:cNvPicPr>
          <p:nvPr/>
        </p:nvPicPr>
        <p:blipFill>
          <a:blip r:embed="rId2"/>
          <a:stretch>
            <a:fillRect/>
          </a:stretch>
        </p:blipFill>
        <p:spPr>
          <a:xfrm rot="0">
            <a:off x="-207160" y="1720580"/>
            <a:ext cx="9084060" cy="6933989"/>
          </a:xfrm>
          <a:prstGeom prst="rect">
            <a:avLst/>
          </a:prstGeom>
        </p:spPr>
      </p:pic>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5245194" y="-1345629"/>
            <a:ext cx="3517329" cy="3517329"/>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27484"/>
            </a:solidFill>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4437604" y="3967038"/>
            <a:ext cx="8028675" cy="8028675"/>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0D1DF"/>
            </a:solidFill>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AutoShape 8" id="8"/>
          <p:cNvSpPr/>
          <p:nvPr/>
        </p:nvSpPr>
        <p:spPr>
          <a:xfrm>
            <a:off x="1028700" y="9258300"/>
            <a:ext cx="16185445" cy="0"/>
          </a:xfrm>
          <a:prstGeom prst="line">
            <a:avLst/>
          </a:prstGeom>
          <a:ln cap="flat" w="38100">
            <a:solidFill>
              <a:srgbClr val="2E3A44"/>
            </a:solidFill>
            <a:prstDash val="solid"/>
            <a:headEnd type="oval" len="lg" w="lg"/>
            <a:tailEnd type="oval" len="lg" w="lg"/>
          </a:ln>
        </p:spPr>
      </p:sp>
      <p:grpSp>
        <p:nvGrpSpPr>
          <p:cNvPr name="Group 9" id="9"/>
          <p:cNvGrpSpPr/>
          <p:nvPr/>
        </p:nvGrpSpPr>
        <p:grpSpPr>
          <a:xfrm rot="0">
            <a:off x="17259300" y="3262130"/>
            <a:ext cx="1586288" cy="1586288"/>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27484"/>
            </a:solidFill>
          </p:spPr>
        </p:sp>
        <p:sp>
          <p:nvSpPr>
            <p:cNvPr name="TextBox 11" id="11"/>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12" id="12"/>
          <p:cNvSpPr/>
          <p:nvPr/>
        </p:nvSpPr>
        <p:spPr>
          <a:xfrm flipH="false" flipV="false" rot="0">
            <a:off x="4299466" y="4469265"/>
            <a:ext cx="3161621" cy="3167380"/>
          </a:xfrm>
          <a:custGeom>
            <a:avLst/>
            <a:gdLst/>
            <a:ahLst/>
            <a:cxnLst/>
            <a:rect r="r" b="b" t="t" l="l"/>
            <a:pathLst>
              <a:path h="3167380" w="3161621">
                <a:moveTo>
                  <a:pt x="0" y="0"/>
                </a:moveTo>
                <a:lnTo>
                  <a:pt x="3161621" y="0"/>
                </a:lnTo>
                <a:lnTo>
                  <a:pt x="3161621" y="3167379"/>
                </a:lnTo>
                <a:lnTo>
                  <a:pt x="0" y="316737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3" id="13"/>
          <p:cNvSpPr txBox="true"/>
          <p:nvPr/>
        </p:nvSpPr>
        <p:spPr>
          <a:xfrm rot="0">
            <a:off x="0" y="395105"/>
            <a:ext cx="11760552" cy="1089024"/>
          </a:xfrm>
          <a:prstGeom prst="rect">
            <a:avLst/>
          </a:prstGeom>
        </p:spPr>
        <p:txBody>
          <a:bodyPr anchor="t" rtlCol="false" tIns="0" lIns="0" bIns="0" rIns="0">
            <a:spAutoFit/>
          </a:bodyPr>
          <a:lstStyle/>
          <a:p>
            <a:pPr algn="ctr">
              <a:lnSpc>
                <a:spcPts val="7700"/>
              </a:lnSpc>
            </a:pPr>
            <a:r>
              <a:rPr lang="en-US" b="true" sz="5500">
                <a:solidFill>
                  <a:srgbClr val="2E3A44"/>
                </a:solidFill>
                <a:latin typeface="Nirand Bold"/>
                <a:ea typeface="Nirand Bold"/>
                <a:cs typeface="Nirand Bold"/>
                <a:sym typeface="Nirand Bold"/>
              </a:rPr>
              <a:t> CATEGORY DRILL-DOWN</a:t>
            </a:r>
          </a:p>
        </p:txBody>
      </p:sp>
      <p:sp>
        <p:nvSpPr>
          <p:cNvPr name="TextBox 14" id="14"/>
          <p:cNvSpPr txBox="true"/>
          <p:nvPr/>
        </p:nvSpPr>
        <p:spPr>
          <a:xfrm rot="0">
            <a:off x="3018903" y="1592080"/>
            <a:ext cx="9712680" cy="2724785"/>
          </a:xfrm>
          <a:prstGeom prst="rect">
            <a:avLst/>
          </a:prstGeom>
        </p:spPr>
        <p:txBody>
          <a:bodyPr anchor="t" rtlCol="false" tIns="0" lIns="0" bIns="0" rIns="0">
            <a:spAutoFit/>
          </a:bodyPr>
          <a:lstStyle/>
          <a:p>
            <a:pPr algn="l">
              <a:lnSpc>
                <a:spcPts val="3640"/>
              </a:lnSpc>
            </a:pPr>
            <a:r>
              <a:rPr lang="en-US" sz="2600">
                <a:solidFill>
                  <a:srgbClr val="2E3A44"/>
                </a:solidFill>
                <a:latin typeface="Nunito"/>
                <a:ea typeface="Nunito"/>
                <a:cs typeface="Nunito"/>
                <a:sym typeface="Nunito"/>
              </a:rPr>
              <a:t>U</a:t>
            </a:r>
            <a:r>
              <a:rPr lang="en-US" sz="2600">
                <a:solidFill>
                  <a:srgbClr val="2E3A44"/>
                </a:solidFill>
                <a:latin typeface="Nunito"/>
                <a:ea typeface="Nunito"/>
                <a:cs typeface="Nunito"/>
                <a:sym typeface="Nunito"/>
              </a:rPr>
              <a:t>sers can:</a:t>
            </a:r>
          </a:p>
          <a:p>
            <a:pPr algn="l" marL="561341" indent="-280670" lvl="1">
              <a:lnSpc>
                <a:spcPts val="3640"/>
              </a:lnSpc>
              <a:buFont typeface="Arial"/>
              <a:buChar char="•"/>
            </a:pPr>
            <a:r>
              <a:rPr lang="en-US" sz="2600">
                <a:solidFill>
                  <a:srgbClr val="2E3A44"/>
                </a:solidFill>
                <a:latin typeface="Nunito"/>
                <a:ea typeface="Nunito"/>
                <a:cs typeface="Nunito"/>
                <a:sym typeface="Nunito"/>
              </a:rPr>
              <a:t>Select a category</a:t>
            </a:r>
          </a:p>
          <a:p>
            <a:pPr algn="l" marL="561341" indent="-280670" lvl="1">
              <a:lnSpc>
                <a:spcPts val="3640"/>
              </a:lnSpc>
              <a:buFont typeface="Arial"/>
              <a:buChar char="•"/>
            </a:pPr>
            <a:r>
              <a:rPr lang="en-US" sz="2600">
                <a:solidFill>
                  <a:srgbClr val="2E3A44"/>
                </a:solidFill>
                <a:latin typeface="Nunito"/>
                <a:ea typeface="Nunito"/>
                <a:cs typeface="Nunito"/>
                <a:sym typeface="Nunito"/>
              </a:rPr>
              <a:t>View all receipts und</a:t>
            </a:r>
            <a:r>
              <a:rPr lang="en-US" sz="2600">
                <a:solidFill>
                  <a:srgbClr val="2E3A44"/>
                </a:solidFill>
                <a:latin typeface="Nunito"/>
                <a:ea typeface="Nunito"/>
                <a:cs typeface="Nunito"/>
                <a:sym typeface="Nunito"/>
              </a:rPr>
              <a:t>er that category</a:t>
            </a:r>
          </a:p>
          <a:p>
            <a:pPr algn="l" marL="561341" indent="-280670" lvl="1">
              <a:lnSpc>
                <a:spcPts val="3640"/>
              </a:lnSpc>
              <a:buFont typeface="Arial"/>
              <a:buChar char="•"/>
            </a:pPr>
            <a:r>
              <a:rPr lang="en-US" sz="2600">
                <a:solidFill>
                  <a:srgbClr val="2E3A44"/>
                </a:solidFill>
                <a:latin typeface="Nunito"/>
                <a:ea typeface="Nunito"/>
                <a:cs typeface="Nunito"/>
                <a:sym typeface="Nunito"/>
              </a:rPr>
              <a:t>An</a:t>
            </a:r>
            <a:r>
              <a:rPr lang="en-US" sz="2600">
                <a:solidFill>
                  <a:srgbClr val="2E3A44"/>
                </a:solidFill>
                <a:latin typeface="Nunito"/>
                <a:ea typeface="Nunito"/>
                <a:cs typeface="Nunito"/>
                <a:sym typeface="Nunito"/>
              </a:rPr>
              <a:t>alyze detailed spending records</a:t>
            </a:r>
          </a:p>
          <a:p>
            <a:pPr algn="l">
              <a:lnSpc>
                <a:spcPts val="3640"/>
              </a:lnSpc>
            </a:pPr>
            <a:r>
              <a:rPr lang="en-US" sz="2600">
                <a:solidFill>
                  <a:srgbClr val="2E3A44"/>
                </a:solidFill>
                <a:latin typeface="Nunito"/>
                <a:ea typeface="Nunito"/>
                <a:cs typeface="Nunito"/>
                <a:sym typeface="Nunito"/>
              </a:rPr>
              <a:t>This </a:t>
            </a:r>
            <a:r>
              <a:rPr lang="en-US" sz="2600">
                <a:solidFill>
                  <a:srgbClr val="2E3A44"/>
                </a:solidFill>
                <a:latin typeface="Nunito"/>
                <a:ea typeface="Nunito"/>
                <a:cs typeface="Nunito"/>
                <a:sym typeface="Nunito"/>
              </a:rPr>
              <a:t>improves transparency and usability.</a:t>
            </a:r>
          </a:p>
          <a:p>
            <a:pPr algn="l">
              <a:lnSpc>
                <a:spcPts val="3640"/>
              </a:lnSpc>
            </a:pPr>
          </a:p>
        </p:txBody>
      </p:sp>
      <p:sp>
        <p:nvSpPr>
          <p:cNvPr name="TextBox 15" id="15"/>
          <p:cNvSpPr txBox="true"/>
          <p:nvPr/>
        </p:nvSpPr>
        <p:spPr>
          <a:xfrm rot="0">
            <a:off x="4544909" y="4054476"/>
            <a:ext cx="11760552" cy="1089024"/>
          </a:xfrm>
          <a:prstGeom prst="rect">
            <a:avLst/>
          </a:prstGeom>
        </p:spPr>
        <p:txBody>
          <a:bodyPr anchor="t" rtlCol="false" tIns="0" lIns="0" bIns="0" rIns="0">
            <a:spAutoFit/>
          </a:bodyPr>
          <a:lstStyle/>
          <a:p>
            <a:pPr algn="ctr">
              <a:lnSpc>
                <a:spcPts val="7700"/>
              </a:lnSpc>
            </a:pPr>
            <a:r>
              <a:rPr lang="en-US" b="true" sz="5500">
                <a:solidFill>
                  <a:srgbClr val="2E3A44"/>
                </a:solidFill>
                <a:latin typeface="Nirand Bold"/>
                <a:ea typeface="Nirand Bold"/>
                <a:cs typeface="Nirand Bold"/>
                <a:sym typeface="Nirand Bold"/>
              </a:rPr>
              <a:t>HISTORY VAULT</a:t>
            </a:r>
          </a:p>
        </p:txBody>
      </p:sp>
      <p:sp>
        <p:nvSpPr>
          <p:cNvPr name="TextBox 16" id="16"/>
          <p:cNvSpPr txBox="true"/>
          <p:nvPr/>
        </p:nvSpPr>
        <p:spPr>
          <a:xfrm rot="0">
            <a:off x="8662779" y="5256591"/>
            <a:ext cx="8341080" cy="2267585"/>
          </a:xfrm>
          <a:prstGeom prst="rect">
            <a:avLst/>
          </a:prstGeom>
        </p:spPr>
        <p:txBody>
          <a:bodyPr anchor="t" rtlCol="false" tIns="0" lIns="0" bIns="0" rIns="0">
            <a:spAutoFit/>
          </a:bodyPr>
          <a:lstStyle/>
          <a:p>
            <a:pPr algn="l">
              <a:lnSpc>
                <a:spcPts val="3640"/>
              </a:lnSpc>
            </a:pPr>
            <a:r>
              <a:rPr lang="en-US" sz="2600">
                <a:solidFill>
                  <a:srgbClr val="2E3A44"/>
                </a:solidFill>
                <a:latin typeface="Nunito"/>
                <a:ea typeface="Nunito"/>
                <a:cs typeface="Nunito"/>
                <a:sym typeface="Nunito"/>
              </a:rPr>
              <a:t>Th</a:t>
            </a:r>
            <a:r>
              <a:rPr lang="en-US" sz="2600">
                <a:solidFill>
                  <a:srgbClr val="2E3A44"/>
                </a:solidFill>
                <a:latin typeface="Nunito"/>
                <a:ea typeface="Nunito"/>
                <a:cs typeface="Nunito"/>
                <a:sym typeface="Nunito"/>
              </a:rPr>
              <a:t>e History tab:</a:t>
            </a:r>
          </a:p>
          <a:p>
            <a:pPr algn="l" marL="561341" indent="-280670" lvl="1">
              <a:lnSpc>
                <a:spcPts val="3640"/>
              </a:lnSpc>
              <a:buFont typeface="Arial"/>
              <a:buChar char="•"/>
            </a:pPr>
            <a:r>
              <a:rPr lang="en-US" sz="2600">
                <a:solidFill>
                  <a:srgbClr val="2E3A44"/>
                </a:solidFill>
                <a:latin typeface="Nunito"/>
                <a:ea typeface="Nunito"/>
                <a:cs typeface="Nunito"/>
                <a:sym typeface="Nunito"/>
              </a:rPr>
              <a:t>Displays all stored receipts</a:t>
            </a:r>
          </a:p>
          <a:p>
            <a:pPr algn="l" marL="561341" indent="-280670" lvl="1">
              <a:lnSpc>
                <a:spcPts val="3640"/>
              </a:lnSpc>
              <a:buFont typeface="Arial"/>
              <a:buChar char="•"/>
            </a:pPr>
            <a:r>
              <a:rPr lang="en-US" sz="2600">
                <a:solidFill>
                  <a:srgbClr val="2E3A44"/>
                </a:solidFill>
                <a:latin typeface="Nunito"/>
                <a:ea typeface="Nunito"/>
                <a:cs typeface="Nunito"/>
                <a:sym typeface="Nunito"/>
              </a:rPr>
              <a:t>Allows us</a:t>
            </a:r>
            <a:r>
              <a:rPr lang="en-US" sz="2600">
                <a:solidFill>
                  <a:srgbClr val="2E3A44"/>
                </a:solidFill>
                <a:latin typeface="Nunito"/>
                <a:ea typeface="Nunito"/>
                <a:cs typeface="Nunito"/>
                <a:sym typeface="Nunito"/>
              </a:rPr>
              <a:t>ers to review past expenses</a:t>
            </a:r>
          </a:p>
          <a:p>
            <a:pPr algn="l" marL="561341" indent="-280670" lvl="1">
              <a:lnSpc>
                <a:spcPts val="3640"/>
              </a:lnSpc>
              <a:buFont typeface="Arial"/>
              <a:buChar char="•"/>
            </a:pPr>
            <a:r>
              <a:rPr lang="en-US" sz="2600">
                <a:solidFill>
                  <a:srgbClr val="2E3A44"/>
                </a:solidFill>
                <a:latin typeface="Nunito"/>
                <a:ea typeface="Nunito"/>
                <a:cs typeface="Nunito"/>
                <a:sym typeface="Nunito"/>
              </a:rPr>
              <a:t>Supports clearing all records w</a:t>
            </a:r>
            <a:r>
              <a:rPr lang="en-US" sz="2600">
                <a:solidFill>
                  <a:srgbClr val="2E3A44"/>
                </a:solidFill>
                <a:latin typeface="Nunito"/>
                <a:ea typeface="Nunito"/>
                <a:cs typeface="Nunito"/>
                <a:sym typeface="Nunito"/>
              </a:rPr>
              <a:t>h</a:t>
            </a:r>
            <a:r>
              <a:rPr lang="en-US" sz="2600">
                <a:solidFill>
                  <a:srgbClr val="2E3A44"/>
                </a:solidFill>
                <a:latin typeface="Nunito"/>
                <a:ea typeface="Nunito"/>
                <a:cs typeface="Nunito"/>
                <a:sym typeface="Nunito"/>
              </a:rPr>
              <a:t>en required</a:t>
            </a:r>
          </a:p>
          <a:p>
            <a:pPr algn="l">
              <a:lnSpc>
                <a:spcPts val="3640"/>
              </a:lnSpc>
            </a:pPr>
          </a:p>
        </p:txBody>
      </p:sp>
    </p:spTree>
  </p:cSld>
  <p:clrMapOvr>
    <a:masterClrMapping/>
  </p:clrMapOvr>
</p:sld>
</file>

<file path=ppt/slides/slide13.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15245194" y="-1345629"/>
            <a:ext cx="3517329" cy="3517329"/>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27484"/>
            </a:solidFill>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4882213" y="-1345629"/>
            <a:ext cx="13341342" cy="13341342"/>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0D1DF"/>
            </a:solidFill>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AutoShape 8" id="8"/>
          <p:cNvSpPr/>
          <p:nvPr/>
        </p:nvSpPr>
        <p:spPr>
          <a:xfrm>
            <a:off x="1028700" y="9258300"/>
            <a:ext cx="16185445" cy="0"/>
          </a:xfrm>
          <a:prstGeom prst="line">
            <a:avLst/>
          </a:prstGeom>
          <a:ln cap="flat" w="38100">
            <a:solidFill>
              <a:srgbClr val="2E3A44"/>
            </a:solidFill>
            <a:prstDash val="solid"/>
            <a:headEnd type="oval" len="lg" w="lg"/>
            <a:tailEnd type="oval" len="lg" w="lg"/>
          </a:ln>
        </p:spPr>
      </p:sp>
      <p:grpSp>
        <p:nvGrpSpPr>
          <p:cNvPr name="Group 9" id="9"/>
          <p:cNvGrpSpPr/>
          <p:nvPr/>
        </p:nvGrpSpPr>
        <p:grpSpPr>
          <a:xfrm rot="0">
            <a:off x="17259300" y="3262130"/>
            <a:ext cx="1586288" cy="1586288"/>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27484"/>
            </a:solidFill>
          </p:spPr>
        </p:sp>
        <p:sp>
          <p:nvSpPr>
            <p:cNvPr name="TextBox 11" id="11"/>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TextBox 12" id="12"/>
          <p:cNvSpPr txBox="true"/>
          <p:nvPr/>
        </p:nvSpPr>
        <p:spPr>
          <a:xfrm rot="0">
            <a:off x="1458239" y="3924493"/>
            <a:ext cx="6695941" cy="1495425"/>
          </a:xfrm>
          <a:prstGeom prst="rect">
            <a:avLst/>
          </a:prstGeom>
        </p:spPr>
        <p:txBody>
          <a:bodyPr anchor="t" rtlCol="false" tIns="0" lIns="0" bIns="0" rIns="0">
            <a:spAutoFit/>
          </a:bodyPr>
          <a:lstStyle/>
          <a:p>
            <a:pPr algn="l">
              <a:lnSpc>
                <a:spcPts val="10500"/>
              </a:lnSpc>
            </a:pPr>
            <a:r>
              <a:rPr lang="en-US" sz="7500" b="true">
                <a:solidFill>
                  <a:srgbClr val="2E3A44"/>
                </a:solidFill>
                <a:latin typeface="Nirand Bold"/>
                <a:ea typeface="Nirand Bold"/>
                <a:cs typeface="Nirand Bold"/>
                <a:sym typeface="Nirand Bold"/>
              </a:rPr>
              <a:t>CONCLUSION</a:t>
            </a:r>
          </a:p>
        </p:txBody>
      </p:sp>
      <p:sp>
        <p:nvSpPr>
          <p:cNvPr name="TextBox 13" id="13"/>
          <p:cNvSpPr txBox="true"/>
          <p:nvPr/>
        </p:nvSpPr>
        <p:spPr>
          <a:xfrm rot="0">
            <a:off x="9525057" y="2757487"/>
            <a:ext cx="6668316" cy="4705350"/>
          </a:xfrm>
          <a:prstGeom prst="rect">
            <a:avLst/>
          </a:prstGeom>
        </p:spPr>
        <p:txBody>
          <a:bodyPr anchor="t" rtlCol="false" tIns="0" lIns="0" bIns="0" rIns="0">
            <a:spAutoFit/>
          </a:bodyPr>
          <a:lstStyle/>
          <a:p>
            <a:pPr algn="l">
              <a:lnSpc>
                <a:spcPts val="4199"/>
              </a:lnSpc>
            </a:pPr>
            <a:r>
              <a:rPr lang="en-US" sz="2999">
                <a:solidFill>
                  <a:srgbClr val="000000"/>
                </a:solidFill>
                <a:latin typeface="Arimo"/>
                <a:ea typeface="Arimo"/>
                <a:cs typeface="Arimo"/>
                <a:sym typeface="Arimo"/>
              </a:rPr>
              <a:t>The Receipt &amp; Invoice Digitizer automates expense tracking using AI.</a:t>
            </a:r>
          </a:p>
          <a:p>
            <a:pPr algn="l">
              <a:lnSpc>
                <a:spcPts val="4199"/>
              </a:lnSpc>
            </a:pPr>
            <a:r>
              <a:rPr lang="en-US" sz="2999">
                <a:solidFill>
                  <a:srgbClr val="000000"/>
                </a:solidFill>
                <a:latin typeface="Arimo"/>
                <a:ea typeface="Arimo"/>
                <a:cs typeface="Arimo"/>
                <a:sym typeface="Arimo"/>
              </a:rPr>
              <a:t> It reduces manual effort, improves accuracy, and provides meaningful insights.</a:t>
            </a:r>
          </a:p>
          <a:p>
            <a:pPr algn="l">
              <a:lnSpc>
                <a:spcPts val="4199"/>
              </a:lnSpc>
            </a:pPr>
            <a:r>
              <a:rPr lang="en-US" sz="2999">
                <a:solidFill>
                  <a:srgbClr val="000000"/>
                </a:solidFill>
                <a:latin typeface="Arimo"/>
                <a:ea typeface="Arimo"/>
                <a:cs typeface="Arimo"/>
                <a:sym typeface="Arimo"/>
              </a:rPr>
              <a:t>The project demonstrates practical application of AI in real-world financial management.</a:t>
            </a:r>
          </a:p>
          <a:p>
            <a:pPr algn="l">
              <a:lnSpc>
                <a:spcPts val="4199"/>
              </a:lnSpc>
            </a:pPr>
          </a:p>
        </p:txBody>
      </p:sp>
    </p:spTree>
  </p:cSld>
  <p:clrMapOvr>
    <a:masterClrMapping/>
  </p:clrMapOvr>
</p:sld>
</file>

<file path=ppt/slides/slide14.xml><?xml version="1.0" encoding="utf-8"?>
<p:sld xmlns:p="http://schemas.openxmlformats.org/presentationml/2006/main" xmlns:a="http://schemas.openxmlformats.org/drawingml/2006/main">
  <p:cSld>
    <p:bg>
      <p:bgPr>
        <a:solidFill>
          <a:srgbClr val="C0D1DF"/>
        </a:solidFill>
      </p:bgPr>
    </p:bg>
    <p:spTree>
      <p:nvGrpSpPr>
        <p:cNvPr id="1" name=""/>
        <p:cNvGrpSpPr/>
        <p:nvPr/>
      </p:nvGrpSpPr>
      <p:grpSpPr>
        <a:xfrm>
          <a:off x="0" y="0"/>
          <a:ext cx="0" cy="0"/>
          <a:chOff x="0" y="0"/>
          <a:chExt cx="0" cy="0"/>
        </a:xfrm>
      </p:grpSpPr>
      <p:grpSp>
        <p:nvGrpSpPr>
          <p:cNvPr name="Group 2" id="2"/>
          <p:cNvGrpSpPr/>
          <p:nvPr/>
        </p:nvGrpSpPr>
        <p:grpSpPr>
          <a:xfrm rot="0">
            <a:off x="831965" y="-2876710"/>
            <a:ext cx="16040420" cy="16040420"/>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TextBox 5" id="5"/>
          <p:cNvSpPr txBox="true"/>
          <p:nvPr/>
        </p:nvSpPr>
        <p:spPr>
          <a:xfrm rot="0">
            <a:off x="5211909" y="2963670"/>
            <a:ext cx="7864182" cy="4621531"/>
          </a:xfrm>
          <a:prstGeom prst="rect">
            <a:avLst/>
          </a:prstGeom>
        </p:spPr>
        <p:txBody>
          <a:bodyPr anchor="t" rtlCol="false" tIns="0" lIns="0" bIns="0" rIns="0">
            <a:spAutoFit/>
          </a:bodyPr>
          <a:lstStyle/>
          <a:p>
            <a:pPr algn="ctr">
              <a:lnSpc>
                <a:spcPts val="15810"/>
              </a:lnSpc>
            </a:pPr>
            <a:r>
              <a:rPr lang="en-US" sz="17000" b="true">
                <a:solidFill>
                  <a:srgbClr val="627484"/>
                </a:solidFill>
                <a:latin typeface="Nirand Bold"/>
                <a:ea typeface="Nirand Bold"/>
                <a:cs typeface="Nirand Bold"/>
                <a:sym typeface="Nirand Bold"/>
              </a:rPr>
              <a:t>Thank You</a:t>
            </a:r>
          </a:p>
        </p:txBody>
      </p:sp>
      <p:grpSp>
        <p:nvGrpSpPr>
          <p:cNvPr name="Group 6" id="6"/>
          <p:cNvGrpSpPr/>
          <p:nvPr/>
        </p:nvGrpSpPr>
        <p:grpSpPr>
          <a:xfrm rot="0">
            <a:off x="13076091" y="710993"/>
            <a:ext cx="2513081" cy="2513081"/>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27484"/>
            </a:solidFill>
          </p:spPr>
        </p:sp>
        <p:sp>
          <p:nvSpPr>
            <p:cNvPr name="TextBox 8" id="8"/>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AutoShape 9" id="9"/>
          <p:cNvSpPr/>
          <p:nvPr/>
        </p:nvSpPr>
        <p:spPr>
          <a:xfrm>
            <a:off x="-1700579" y="1028700"/>
            <a:ext cx="7733905" cy="0"/>
          </a:xfrm>
          <a:prstGeom prst="line">
            <a:avLst/>
          </a:prstGeom>
          <a:ln cap="flat" w="38100">
            <a:solidFill>
              <a:srgbClr val="2E3A44"/>
            </a:solidFill>
            <a:prstDash val="solid"/>
            <a:headEnd type="none" len="sm" w="sm"/>
            <a:tailEnd type="oval" len="lg" w="lg"/>
          </a:ln>
        </p:spPr>
      </p:sp>
      <p:sp>
        <p:nvSpPr>
          <p:cNvPr name="AutoShape 10" id="10"/>
          <p:cNvSpPr/>
          <p:nvPr/>
        </p:nvSpPr>
        <p:spPr>
          <a:xfrm>
            <a:off x="11230885" y="9258300"/>
            <a:ext cx="7770392" cy="0"/>
          </a:xfrm>
          <a:prstGeom prst="line">
            <a:avLst/>
          </a:prstGeom>
          <a:ln cap="flat" w="38100">
            <a:solidFill>
              <a:srgbClr val="2E3A44"/>
            </a:solidFill>
            <a:prstDash val="solid"/>
            <a:headEnd type="oval" len="lg" w="lg"/>
            <a:tailEnd type="none" len="sm" w="sm"/>
          </a:ln>
        </p:spPr>
      </p:sp>
      <p:grpSp>
        <p:nvGrpSpPr>
          <p:cNvPr name="Group 11" id="11"/>
          <p:cNvGrpSpPr/>
          <p:nvPr/>
        </p:nvGrpSpPr>
        <p:grpSpPr>
          <a:xfrm rot="0">
            <a:off x="2740932" y="6266276"/>
            <a:ext cx="1586288" cy="1586288"/>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27484"/>
            </a:solidFill>
          </p:spPr>
        </p:sp>
        <p:sp>
          <p:nvSpPr>
            <p:cNvPr name="TextBox 13" id="13"/>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DAG-NCq56Ao</dc:identifier>
  <dcterms:modified xsi:type="dcterms:W3CDTF">2011-08-01T06:04:30Z</dcterms:modified>
  <cp:revision>1</cp:revision>
  <dc:title>White Blue Minimalist Geometric Group Project Presentation</dc:title>
</cp:coreProperties>
</file>